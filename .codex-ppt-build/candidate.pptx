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1d27ea2ff74bb4" /><Relationship Type="http://schemas.openxmlformats.org/officeDocument/2006/relationships/extended-properties" Target="/docProps/app.xml" Id="R4699af7b77dd40aa" /><Relationship Type="http://schemas.openxmlformats.org/officeDocument/2006/relationships/officeDocument" Target="/ppt/presentation.xml" Id="R8695aac68eed47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2caf63e40949e7"/>
  </p:sldMasterIdLst>
  <p:notesMasterIdLst>
    <p:notesMasterId xmlns:r="http://schemas.openxmlformats.org/officeDocument/2006/relationships" r:id="R81af212e2e534657"/>
  </p:notesMasterIdLst>
  <p:sldIdLst>
    <p:sldId xmlns:r="http://schemas.openxmlformats.org/officeDocument/2006/relationships" id="256" r:id="R592a2fd4f33f4c7c"/>
    <p:sldId xmlns:r="http://schemas.openxmlformats.org/officeDocument/2006/relationships" id="257" r:id="R8bbd7d4fcc514946"/>
    <p:sldId xmlns:r="http://schemas.openxmlformats.org/officeDocument/2006/relationships" id="258" r:id="Re35fa234acf04fe2"/>
    <p:sldId xmlns:r="http://schemas.openxmlformats.org/officeDocument/2006/relationships" id="259" r:id="Rb19591ead256443c"/>
    <p:sldId xmlns:r="http://schemas.openxmlformats.org/officeDocument/2006/relationships" id="260" r:id="Ra812f0a8b4c74cda"/>
    <p:sldId xmlns:r="http://schemas.openxmlformats.org/officeDocument/2006/relationships" id="261" r:id="R7269692c40b34f17"/>
    <p:sldId xmlns:r="http://schemas.openxmlformats.org/officeDocument/2006/relationships" id="262" r:id="R3db254076fff4a97"/>
    <p:sldId xmlns:r="http://schemas.openxmlformats.org/officeDocument/2006/relationships" id="263" r:id="R67c1c8f04f1a4f15"/>
    <p:sldId xmlns:r="http://schemas.openxmlformats.org/officeDocument/2006/relationships" id="264" r:id="Rcc8432ef66904ef2"/>
    <p:sldId xmlns:r="http://schemas.openxmlformats.org/officeDocument/2006/relationships" id="265" r:id="R6c4b8e4c54df4155"/>
    <p:sldId xmlns:r="http://schemas.openxmlformats.org/officeDocument/2006/relationships" id="266" r:id="R5690b0970b18453c"/>
    <p:sldId xmlns:r="http://schemas.openxmlformats.org/officeDocument/2006/relationships" id="267" r:id="Rfdeceb193dae4bd3"/>
    <p:sldId xmlns:r="http://schemas.openxmlformats.org/officeDocument/2006/relationships" id="268" r:id="R042444d4ee554ea1"/>
    <p:sldId xmlns:r="http://schemas.openxmlformats.org/officeDocument/2006/relationships" id="269" r:id="R8969179a1ae642f9"/>
    <p:sldId xmlns:r="http://schemas.openxmlformats.org/officeDocument/2006/relationships" id="270" r:id="R8c1367190e374ea9"/>
    <p:sldId xmlns:r="http://schemas.openxmlformats.org/officeDocument/2006/relationships" id="271" r:id="Raf4f53efba1c420f"/>
    <p:sldId xmlns:r="http://schemas.openxmlformats.org/officeDocument/2006/relationships" id="272" r:id="R498ba67fdc9645c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38c72a3fda4e9b" /><Relationship Type="http://schemas.openxmlformats.org/officeDocument/2006/relationships/slideMaster" Target="/ppt/slideMasters/slideMaster1.xml" Id="Rd42caf63e40949e7" /><Relationship Type="http://schemas.openxmlformats.org/officeDocument/2006/relationships/notesMaster" Target="/ppt/notesMasters/notesMaster1.xml" Id="R81af212e2e534657" /><Relationship Type="http://schemas.openxmlformats.org/officeDocument/2006/relationships/presProps" Target="/ppt/presProps.xml" Id="R1c59928575444c22" /><Relationship Type="http://schemas.openxmlformats.org/officeDocument/2006/relationships/tableStyles" Target="/ppt/tableStyles.xml" Id="R544799cb059348af" /><Relationship Type="http://schemas.openxmlformats.org/officeDocument/2006/relationships/slide" Target="/ppt/slides/slide1.xml" Id="R592a2fd4f33f4c7c" /><Relationship Type="http://schemas.openxmlformats.org/officeDocument/2006/relationships/slide" Target="/ppt/slides/slide2.xml" Id="R8bbd7d4fcc514946" /><Relationship Type="http://schemas.openxmlformats.org/officeDocument/2006/relationships/slide" Target="/ppt/slides/slide3.xml" Id="Re35fa234acf04fe2" /><Relationship Type="http://schemas.openxmlformats.org/officeDocument/2006/relationships/slide" Target="/ppt/slides/slide4.xml" Id="Rb19591ead256443c" /><Relationship Type="http://schemas.openxmlformats.org/officeDocument/2006/relationships/slide" Target="/ppt/slides/slide5.xml" Id="Ra812f0a8b4c74cda" /><Relationship Type="http://schemas.openxmlformats.org/officeDocument/2006/relationships/slide" Target="/ppt/slides/slide6.xml" Id="R7269692c40b34f17" /><Relationship Type="http://schemas.openxmlformats.org/officeDocument/2006/relationships/slide" Target="/ppt/slides/slide7.xml" Id="R3db254076fff4a97" /><Relationship Type="http://schemas.openxmlformats.org/officeDocument/2006/relationships/slide" Target="/ppt/slides/slide8.xml" Id="R67c1c8f04f1a4f15" /><Relationship Type="http://schemas.openxmlformats.org/officeDocument/2006/relationships/slide" Target="/ppt/slides/slide9.xml" Id="Rcc8432ef66904ef2" /><Relationship Type="http://schemas.openxmlformats.org/officeDocument/2006/relationships/slide" Target="/ppt/slides/slide10.xml" Id="R6c4b8e4c54df4155" /><Relationship Type="http://schemas.openxmlformats.org/officeDocument/2006/relationships/slide" Target="/ppt/slides/slide11.xml" Id="R5690b0970b18453c" /><Relationship Type="http://schemas.openxmlformats.org/officeDocument/2006/relationships/slide" Target="/ppt/slides/slide12.xml" Id="Rfdeceb193dae4bd3" /><Relationship Type="http://schemas.openxmlformats.org/officeDocument/2006/relationships/slide" Target="/ppt/slides/slide13.xml" Id="R042444d4ee554ea1" /><Relationship Type="http://schemas.openxmlformats.org/officeDocument/2006/relationships/slide" Target="/ppt/slides/slide14.xml" Id="R8969179a1ae642f9" /><Relationship Type="http://schemas.openxmlformats.org/officeDocument/2006/relationships/slide" Target="/ppt/slides/slide15.xml" Id="R8c1367190e374ea9" /><Relationship Type="http://schemas.openxmlformats.org/officeDocument/2006/relationships/slide" Target="/ppt/slides/slide16.xml" Id="Raf4f53efba1c420f" /><Relationship Type="http://schemas.openxmlformats.org/officeDocument/2006/relationships/slide" Target="/ppt/slides/slide17.xml" Id="R498ba67fdc9645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3becc2fd0b41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9d4427f1644496" /><Relationship Type="http://schemas.openxmlformats.org/officeDocument/2006/relationships/notesMaster" Target="/ppt/notesMasters/notesMaster1.xml" Id="R0b94283a5dde43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d2f77c93eb14ea2" /><Relationship Type="http://schemas.openxmlformats.org/officeDocument/2006/relationships/notesMaster" Target="/ppt/notesMasters/notesMaster1.xml" Id="R086ec44aa71f49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68e41f781f4ae3" /><Relationship Type="http://schemas.openxmlformats.org/officeDocument/2006/relationships/notesMaster" Target="/ppt/notesMasters/notesMaster1.xml" Id="R4f7b98ab0cb245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a54b44c34f4f69" /><Relationship Type="http://schemas.openxmlformats.org/officeDocument/2006/relationships/notesMaster" Target="/ppt/notesMasters/notesMaster1.xml" Id="Rfc66f8e50b314c2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d7425049c814df3" /><Relationship Type="http://schemas.openxmlformats.org/officeDocument/2006/relationships/notesMaster" Target="/ppt/notesMasters/notesMaster1.xml" Id="R20fbb3941aaf4c9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01b7f21ac3453b" /><Relationship Type="http://schemas.openxmlformats.org/officeDocument/2006/relationships/notesMaster" Target="/ppt/notesMasters/notesMaster1.xml" Id="Rac44ec0b5b8f44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7b598968cde4e4c" /><Relationship Type="http://schemas.openxmlformats.org/officeDocument/2006/relationships/notesMaster" Target="/ppt/notesMasters/notesMaster1.xml" Id="R3c9eb6500d034fe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171a13b266b4f7d" /><Relationship Type="http://schemas.openxmlformats.org/officeDocument/2006/relationships/notesMaster" Target="/ppt/notesMasters/notesMaster1.xml" Id="R93ba45ccb7874a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8a7fd0fd7e64f0c" /><Relationship Type="http://schemas.openxmlformats.org/officeDocument/2006/relationships/notesMaster" Target="/ppt/notesMasters/notesMaster1.xml" Id="R73416c5cae66431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39c5ce8f2eb458a" /><Relationship Type="http://schemas.openxmlformats.org/officeDocument/2006/relationships/notesMaster" Target="/ppt/notesMasters/notesMaster1.xml" Id="R23051641e6b4445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3e2f0f97c4941ff" /><Relationship Type="http://schemas.openxmlformats.org/officeDocument/2006/relationships/notesMaster" Target="/ppt/notesMasters/notesMaster1.xml" Id="R3c43f668e44441a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5b6405096f842b6" /><Relationship Type="http://schemas.openxmlformats.org/officeDocument/2006/relationships/notesMaster" Target="/ppt/notesMasters/notesMaster1.xml" Id="Refd8473002004f1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094d176ec7549ad" /><Relationship Type="http://schemas.openxmlformats.org/officeDocument/2006/relationships/notesMaster" Target="/ppt/notesMasters/notesMaster1.xml" Id="R73aaf5a1645f484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6623f28930c4bd6" /><Relationship Type="http://schemas.openxmlformats.org/officeDocument/2006/relationships/notesMaster" Target="/ppt/notesMasters/notesMaster1.xml" Id="R0c0a9307abe7472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a9bcb4b257849ea" /><Relationship Type="http://schemas.openxmlformats.org/officeDocument/2006/relationships/notesMaster" Target="/ppt/notesMasters/notesMaster1.xml" Id="Rfd286a3192704bf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93bb31f0d6e42ed" /><Relationship Type="http://schemas.openxmlformats.org/officeDocument/2006/relationships/notesMaster" Target="/ppt/notesMasters/notesMaster1.xml" Id="R68ee0004ae9d4b2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b600716d33c4b4e" /><Relationship Type="http://schemas.openxmlformats.org/officeDocument/2006/relationships/notesMaster" Target="/ppt/notesMasters/notesMaster1.xml" Id="Rcc956536a75a42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첫 문장은 기능 나열보다 게임의 학습 루프를 설명합니다. 발표 전체는 사용자 경험 → 구현 구조 → 안정성 순서입니다.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기존 48장 통합 발표 자료</a:t>
            </a:r>
          </a:p>
          <a:p xmlns:a="http://schemas.openxmlformats.org/drawingml/2006/main">
            <a:r>
              <a:t>- Notion: cat-game 오류 수정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홈 화면은 현재 상태, 대표 고양이와 핵심 기능으로 들어가는 허브입니다. 실제 프로필 버튼의 고양이는 사용자가 선택한 대표 고양이입니다.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C:/dev/cat-game/src/game/scenes/HomeScene.ts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Python과 SQL 과목을 화면에서 바로 전환합니다. 숙련도와 추천 과제를 한 화면에 배치해 다음 행동이 끊기지 않도록 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C:/dev/cat-game/docs/ARCHITECTURE.md</a:t>
            </a:r>
          </a:p>
          <a:p xmlns:a="http://schemas.openxmlformats.org/drawingml/2006/main">
            <a:r>
              <a:t>- C:/dev/cat-game-backend/docs/features/part2-learning-system.md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코드 작성은 CodeMirror DOM 오버레이를 사용하고, 나머지 화면은 PixiJS Canvas에 유지했습니다. 제출 뒤에는 공개 가능한 판정 결과만 사용자에게 보여 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C:/dev/cat-game/docs/CODE_GUIDE.md</a:t>
            </a:r>
          </a:p>
          <a:p xmlns:a="http://schemas.openxmlformats.org/drawingml/2006/main">
            <a:r>
              <a:t>- C:/dev/cat-game-backend/docs/features/part2-learning-system.md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데일리 퀘스트는 오늘 실제 완료 기록을 기준으로 활성화됩니다. 출석은 서버 날짜와 원장을 기준으로 중복 수령을 막고, 스트릭은 전날 출석이 있어야 이어집니다.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C:/dev/cat-game/docs/CODE_GUIDE.md</a:t>
            </a:r>
          </a:p>
          <a:p xmlns:a="http://schemas.openxmlformats.org/drawingml/2006/main">
            <a:r>
              <a:t>- C:/dev/cat-game-backend/docs/architecture/current-erd.md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프런트는 구매 성공 여부를 자체 판정하지 않고 GameClient의 명령 결과와 서버 스냅샷만 반영합니다. 백엔드는 잔액 차감과 자산 지급을 원자적으로 처리합니다.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C:/dev/cat-game/docs/ARCHITECTURE.md</a:t>
            </a:r>
          </a:p>
          <a:p xmlns:a="http://schemas.openxmlformats.org/drawingml/2006/main">
            <a:r>
              <a:t>- C:/dev/cat-game-backend/docs/architecture/part3-integration-contract.md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고양이 종류는 코드의 카탈로그 키와 DB 카탈로그 행을 기준으로 합니다. 뽑기 결과는 실행 원장과 assets를 같은 트랜잭션에서 갱신하고 도감은 전체 카탈로그를 조회합니다.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C:/dev/cat-game-backend/docs/architecture/current-erd.md</a:t>
            </a:r>
          </a:p>
          <a:p xmlns:a="http://schemas.openxmlformats.org/drawingml/2006/main">
            <a:r>
              <a:t>- C:/dev/cat-game-backend/docs/architecture/part3-integration-contract.md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대화는 고양이별 페르소나를 사용하고 사용자 원문은 저장하지 않습니다. 허용된 대화에서 서버가 만든 요약만 고양이 자산별 기억으로 누적하며, 현재 대화창의 ‘기억 초기화’로 해당 고양이의 기억만 삭제할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C:/dev/cat-game/docs/CODE_GUIDE.md</a:t>
            </a:r>
          </a:p>
          <a:p xmlns:a="http://schemas.openxmlformats.org/drawingml/2006/main">
            <a:r>
              <a:t>- C:/dev/cat-game-backend/docs/architecture/part3-integration-contract.md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학생관리시스템의 프로필 경로는 게임 백엔드가 프록시해 같은 출처에서 제공합니다. 연결되면 사용자 사진과 연동 완료, 실패하거나 이미지가 없으면 포근이와 연동 미완료를 보여 줍니다. 로그아웃은 서버 세션을 폐기합니다.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C:/dev/cat-game/src/services/BackendApiClient.ts</a:t>
            </a:r>
          </a:p>
          <a:p xmlns:a="http://schemas.openxmlformats.org/drawingml/2006/main">
            <a:r>
              <a:t>- C:/dev/cat-game/src/game/presentation/profileImage.ts</a:t>
            </a:r>
          </a:p>
          <a:p xmlns:a="http://schemas.openxmlformats.org/drawingml/2006/main">
            <a:r>
              <a:t>- Notion: cat-game 오류 수정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프런트 아키텍처의 핵심은 화면과 구현을 분리한 GameClient입니다. 원격 모드에서는 모든 권위 상태를 서버 스냅샷으로 받아오고 stateVersion으로 응답 순서 역전을 방어합니다.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C:/dev/cat-game/docs/ARCHITECTURE.md</a:t>
            </a:r>
          </a:p>
          <a:p xmlns:a="http://schemas.openxmlformats.org/drawingml/2006/main">
            <a:r>
              <a:t>- C:/dev/cat-game/src/services/BackendLearningGameClient.ts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백엔드는 기능 중심 모듈형 모놀리스입니다. Repository는 조회·저장·잠금만 하고, 업무 서비스와 Unit of Work가 트랜잭션의 시작과 종료를 소유합니다.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C:/dev/cat-game-backend/docs/architecture/overview.md</a:t>
            </a:r>
          </a:p>
          <a:p xmlns:a="http://schemas.openxmlformats.org/drawingml/2006/main">
            <a:r>
              <a:t>- C:/dev/cat-game-backend/docs/architecture/current-erd.md</a:t>
            </a:r>
          </a:p>
          <a:p xmlns:a="http://schemas.openxmlformats.org/drawingml/2006/main">
            <a:r>
              <a:t>- C:/dev/cat-game-backend/docs/architecture/part3-integration-contract.md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DB 안에서는 효율적인 정수 PK/FK를 사용하지만 API에는 UUID만 노출합니다. ORM 필드명과 응답 필드명이 다르므로 자동 변환에 기대지 않고 to_*_read 같은 명시적 DTO 변환 함수에서 관계를 공개 UUID로 치환합니다. UUID는 소유권 검사를 대신하지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C:/dev/cat-game-backend/docs/architecture/current-erd.md</a:t>
            </a:r>
          </a:p>
          <a:p xmlns:a="http://schemas.openxmlformats.org/drawingml/2006/main">
            <a:r>
              <a:t>- C:/dev/cat-game-backend/docs/architecture/part3-integration-contract.md</a:t>
            </a:r>
          </a:p>
          <a:p xmlns:a="http://schemas.openxmlformats.org/drawingml/2006/main">
            <a:r>
              <a:t>- C:/dev/cat-game-backend/app/schemas/task.py</a:t>
            </a:r>
          </a:p>
          <a:p xmlns:a="http://schemas.openxmlformats.org/drawingml/2006/main">
            <a:r>
              <a:t>- C:/dev/cat-game-backend/app/modules/cats/service.py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Python과 SQL 각각 150문제입니다. BRONZE 50%, SILVER 20%, GOLD 0%로 객관식을 표시하고 나머지는 직접 작성형입니다. 표시 세션에서 보기와 정답 위치를 섞되 같은 세션에서는 새로고침해도 유지합니다.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C:/dev/cat-game-backend/docs/features/part2-learning-system.md</a:t>
            </a:r>
          </a:p>
          <a:p xmlns:a="http://schemas.openxmlformats.org/drawingml/2006/main">
            <a:r>
              <a:t>- C:/dev/cat-game-backend/app/modules/learning/presentation.py</a:t>
            </a:r>
          </a:p>
          <a:p xmlns:a="http://schemas.openxmlformats.org/drawingml/2006/main">
            <a:r>
              <a:t>- C:/dev/cat-game-backend/app/modules/learning/proficiency.py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답안 제출 API는 PENDING 시도만 저장합니다. 워커가 FOR UPDATE SKIP LOCKED로 시도를 임대해 격리 실행하고, 임대 토큰으로 중복·지연 결과를 차단합니다. 결과와 최초 보상은 같은 트랜잭션에서 커밋합니다.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C:/dev/cat-game-backend/docs/architecture/overview.md</a:t>
            </a:r>
          </a:p>
          <a:p xmlns:a="http://schemas.openxmlformats.org/drawingml/2006/main">
            <a:r>
              <a:t>- C:/dev/cat-game-backend/docs/features/part2-learning-system.md</a:t>
            </a:r>
          </a:p>
          <a:p xmlns:a="http://schemas.openxmlformats.org/drawingml/2006/main">
            <a:r>
              <a:t>- C:/dev/cat-game-backend/app/modules/grading/service.py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구매·뽑기·학습 제출은 request_id와 정규 JSON의 SHA-256 해시를 사용합니다. 동일한 요청 재전송은 저장된 결과를 반환하고, 같은 request_id에 다른 사용자나 내용이 오면 409로 거절합니다. 상태 변경 전체는 한 트랜잭션입니다.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C:/dev/cat-game-backend/app/core/request_hash.py</a:t>
            </a:r>
          </a:p>
          <a:p xmlns:a="http://schemas.openxmlformats.org/drawingml/2006/main">
            <a:r>
              <a:t>- C:/dev/cat-game-backend/docs/architecture/part3-integration-contract.md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브라우저는 Nginx를 통해 프런트와 API를 같은 출처로 사용합니다. 세션 쿠키와 CSRF를 안전하게 적용하고, 게임 상태는 PostgreSQL이 권위를 갖습니다. 프로필 이미지는 백엔드 프록시를 거쳐 브라우저의 교차 출처 세션 문제를 제거합니다.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C:/dev/cat-game/docs/CODE_GUIDE.md</a:t>
            </a:r>
          </a:p>
          <a:p xmlns:a="http://schemas.openxmlformats.org/drawingml/2006/main">
            <a:r>
              <a:t>- C:/dev/cat-game/docs/DOCKER_INTEGRATION.md</a:t>
            </a:r>
          </a:p>
          <a:p xmlns:a="http://schemas.openxmlformats.org/drawingml/2006/main">
            <a:r>
              <a:t>- C:/dev/cat-game/src/services/BackendApiClient.ts</a:t>
            </a:r>
          </a:p>
          <a:p xmlns:a="http://schemas.openxmlformats.org/drawingml/2006/main">
            <a:r>
              <a:t>- Notion: cat-game 오류 수정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마지막에는 기능이 아니라 연결된 경험을 다시 강조합니다. 시연 순서는 홈, 학습, 제출, 보상, 배치, 고양이 대화이며 마지막에 프로필과 로그아웃을 짧게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C:/dev/cat-game/docs/ARCHITECTURE.md</a:t>
            </a:r>
          </a:p>
          <a:p xmlns:a="http://schemas.openxmlformats.org/drawingml/2006/main">
            <a:r>
              <a:t>- C:/dev/cat-game-backend/docs/architecture/current-erd.md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284b047bde403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0f004790e3411c" /><Relationship Type="http://schemas.openxmlformats.org/officeDocument/2006/relationships/slideLayout" Target="/ppt/slideLayouts/slideLayout1.xml" Id="Raee839ed41f948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e839ed41f948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eb28dc797943a3" /><Relationship Type="http://schemas.openxmlformats.org/officeDocument/2006/relationships/image" Target="/ppt/media/image.png" Id="Rd4467d06cb99482b" /><Relationship Type="http://schemas.openxmlformats.org/officeDocument/2006/relationships/image" Target="/ppt/media/image2.png" Id="Rf17f369fcb96440e" /><Relationship Type="http://schemas.openxmlformats.org/officeDocument/2006/relationships/notesSlide" Target="/ppt/notesSlides/notesSlide1.xml" Id="R9a0db55bb98d49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e19dcd70074db2" /><Relationship Type="http://schemas.openxmlformats.org/officeDocument/2006/relationships/image" Target="/ppt/media/image3.png" Id="R926855b1e16043d8" /><Relationship Type="http://schemas.openxmlformats.org/officeDocument/2006/relationships/notesSlide" Target="/ppt/notesSlides/notesSlide2.xml" Id="R91180ef74b4344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2e91e01a2b42f9" /><Relationship Type="http://schemas.openxmlformats.org/officeDocument/2006/relationships/image" Target="/ppt/media/image4.png" Id="R763d3c8d6c024dca" /><Relationship Type="http://schemas.openxmlformats.org/officeDocument/2006/relationships/notesSlide" Target="/ppt/notesSlides/notesSlide3.xml" Id="Rfea0a40f191943a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5e00cf5b184a4a" /><Relationship Type="http://schemas.openxmlformats.org/officeDocument/2006/relationships/image" Target="/ppt/media/image5.png" Id="Rec376e02b33a4481" /><Relationship Type="http://schemas.openxmlformats.org/officeDocument/2006/relationships/notesSlide" Target="/ppt/notesSlides/notesSlide4.xml" Id="R1db454575a344e9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6fb6d935c640fd" /><Relationship Type="http://schemas.openxmlformats.org/officeDocument/2006/relationships/image" Target="/ppt/media/image6.png" Id="R0bcabd5c69e347e8" /><Relationship Type="http://schemas.openxmlformats.org/officeDocument/2006/relationships/image" Target="/ppt/media/image7.png" Id="R2e6076103a174815" /><Relationship Type="http://schemas.openxmlformats.org/officeDocument/2006/relationships/image" Target="/ppt/media/image8.png" Id="Rc51c039ce7724271" /><Relationship Type="http://schemas.openxmlformats.org/officeDocument/2006/relationships/notesSlide" Target="/ppt/notesSlides/notesSlide5.xml" Id="Rde511b09bed34c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2d565c411a498c" /><Relationship Type="http://schemas.openxmlformats.org/officeDocument/2006/relationships/image" Target="/ppt/media/image9.png" Id="R686cde73b6604958" /><Relationship Type="http://schemas.openxmlformats.org/officeDocument/2006/relationships/image" Target="/ppt/media/image10.png" Id="R520fbec25e324c86" /><Relationship Type="http://schemas.openxmlformats.org/officeDocument/2006/relationships/image" Target="/ppt/media/image11.png" Id="R4fedae38df4144df" /><Relationship Type="http://schemas.openxmlformats.org/officeDocument/2006/relationships/image" Target="/ppt/media/image12.png" Id="R13646720bbe04013" /><Relationship Type="http://schemas.openxmlformats.org/officeDocument/2006/relationships/notesSlide" Target="/ppt/notesSlides/notesSlide6.xml" Id="Ra9861a55f49c46a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4e8595838945d8" /><Relationship Type="http://schemas.openxmlformats.org/officeDocument/2006/relationships/image" Target="/ppt/media/image13.png" Id="R7807c7d5d3de4baa" /><Relationship Type="http://schemas.openxmlformats.org/officeDocument/2006/relationships/image" Target="/ppt/media/image14.png" Id="R4906e701dc8248d9" /><Relationship Type="http://schemas.openxmlformats.org/officeDocument/2006/relationships/image" Target="/ppt/media/image15.png" Id="R9f0609c6c9564f6d" /><Relationship Type="http://schemas.openxmlformats.org/officeDocument/2006/relationships/notesSlide" Target="/ppt/notesSlides/notesSlide7.xml" Id="R4808c6a978944e7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c6ed26eccc46b0" /><Relationship Type="http://schemas.openxmlformats.org/officeDocument/2006/relationships/image" Target="/ppt/media/image16.png" Id="R7907256449d64ed5" /><Relationship Type="http://schemas.openxmlformats.org/officeDocument/2006/relationships/notesSlide" Target="/ppt/notesSlides/notesSlide8.xml" Id="R1460e0d48e804b3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675fd593cc4944" /><Relationship Type="http://schemas.openxmlformats.org/officeDocument/2006/relationships/image" Target="/ppt/media/image17.png" Id="R7843bb68218b43a1" /><Relationship Type="http://schemas.openxmlformats.org/officeDocument/2006/relationships/notesSlide" Target="/ppt/notesSlides/notesSlide9.xml" Id="R48582ec31fd04a0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d1d0a79e5843cb" /><Relationship Type="http://schemas.openxmlformats.org/officeDocument/2006/relationships/image" Target="/ppt/media/image18.png" Id="R99f198b7ca5746a6" /><Relationship Type="http://schemas.openxmlformats.org/officeDocument/2006/relationships/notesSlide" Target="/ppt/notesSlides/notesSlide10.xml" Id="Re53b3f8bd56044e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12cc86ce8b45ca" /><Relationship Type="http://schemas.openxmlformats.org/officeDocument/2006/relationships/image" Target="/ppt/media/image19.png" Id="R2000be943666405d" /><Relationship Type="http://schemas.openxmlformats.org/officeDocument/2006/relationships/notesSlide" Target="/ppt/notesSlides/notesSlide11.xml" Id="R6b3cb09b4eca435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238f2745ce4eb4" /><Relationship Type="http://schemas.openxmlformats.org/officeDocument/2006/relationships/image" Target="/ppt/media/image20.png" Id="R654b644b3dfb406b" /><Relationship Type="http://schemas.openxmlformats.org/officeDocument/2006/relationships/notesSlide" Target="/ppt/notesSlides/notesSlide12.xml" Id="R0793ebd5544d405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16995d0a14473d" /><Relationship Type="http://schemas.openxmlformats.org/officeDocument/2006/relationships/image" Target="/ppt/media/image21.png" Id="Reafb5f3387e540e5" /><Relationship Type="http://schemas.openxmlformats.org/officeDocument/2006/relationships/notesSlide" Target="/ppt/notesSlides/notesSlide13.xml" Id="Ree4a6b941b57418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f14479b0f841d3" /><Relationship Type="http://schemas.openxmlformats.org/officeDocument/2006/relationships/image" Target="/ppt/media/image22.png" Id="R69a6d4d6242c4d45" /><Relationship Type="http://schemas.openxmlformats.org/officeDocument/2006/relationships/notesSlide" Target="/ppt/notesSlides/notesSlide14.xml" Id="R85c608d76edb495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46456818e44683" /><Relationship Type="http://schemas.openxmlformats.org/officeDocument/2006/relationships/image" Target="/ppt/media/image23.png" Id="Rd7ed1e92374f4f8a" /><Relationship Type="http://schemas.openxmlformats.org/officeDocument/2006/relationships/notesSlide" Target="/ppt/notesSlides/notesSlide15.xml" Id="R204d75af54fc453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7f112ee4f24c7b" /><Relationship Type="http://schemas.openxmlformats.org/officeDocument/2006/relationships/image" Target="/ppt/media/image24.png" Id="R6c0eb6c5f7eb4956" /><Relationship Type="http://schemas.openxmlformats.org/officeDocument/2006/relationships/notesSlide" Target="/ppt/notesSlides/notesSlide16.xml" Id="R2cfac7c6fb754b0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ccf749dc894eaa" /><Relationship Type="http://schemas.openxmlformats.org/officeDocument/2006/relationships/image" Target="/ppt/media/image25.png" Id="R1c9e7dbcb89146b3" /><Relationship Type="http://schemas.openxmlformats.org/officeDocument/2006/relationships/notesSlide" Target="/ppt/notesSlides/notesSlide17.xml" Id="Rc6b1fbf57d0949e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9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467d06cb99482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905500"/>
            <a:ext cx="12192000" cy="95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CCAFF0-C1CD-4D1B-9020-8D1A7A2AE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28A45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F28A45"/>
                </a:solidFill>
                <a:latin typeface="Noto Sans KR"/>
                <a:ea typeface="Noto Sans KR"/>
                <a:cs typeface="Noto Sans KR"/>
              </a:rPr>
              <a:t>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A82EA1-FDAC-476F-9BF9-A14FE0CE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575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고양이와 함께하는 프로그래밍 학습 게임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D23727-DC54-494D-8E97-E1AC4CB8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1915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rPr>
              <a:t>KANT-2 · 프런트엔드 × 백엔드 통합 발표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C68E51-C2D2-4FAB-8F8D-A31E2B75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619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9B684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9B6846"/>
                </a:solidFill>
                <a:latin typeface="Noto Sans KR"/>
                <a:ea typeface="Noto Sans KR"/>
                <a:cs typeface="Noto Sans KR"/>
              </a:rPr>
              <a:t>고양이와 함께 배우는 즐거운 하루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4563DC-0A8A-44A7-86B6-DB7A2250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1049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28A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6D8318-D23A-4B24-A301-D6CF933A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85900"/>
            <a:ext cx="4857750" cy="3524250"/>
          </a:xfrm>
          <a:prstGeom xmlns:a="http://schemas.openxmlformats.org/drawingml/2006/main" prst="roundRect">
            <a:avLst>
              <a:gd name="adj" fmla="val 7568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EAA16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0C07F7-8D9F-498E-8BCD-7A76B2346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32385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A45"/>
          </a:solidFill>
          <a:ln xmlns:a="http://schemas.openxmlformats.org/drawingml/2006/main" w="19050">
            <a:solidFill>
              <a:srgbClr val="F28A45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LEARN · REWARD · DECORATE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557B99-AA22-45D2-968A-CC5C3A256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4095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공부한 만큼</a:t>
            </a:r>
          </a:p>
          <a:p xmlns:a="http://schemas.openxmlformats.org/drawingml/2006/main">
            <a:pPr algn="l">
              <a:defRPr sz="255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내 공간과 고양이가 자랍니다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5C7CEB-68A7-4C1A-81A4-F6B9E679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rPr>
              <a:t>학습 → 보상 → 수집 → 교감으로 이어지는</a:t>
            </a:r>
          </a:p>
          <a:p xmlns:a="http://schemas.openxmlformats.org/drawingml/2006/main">
            <a:pPr algn="l">
              <a:defRPr sz="150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rPr>
              <a:t>동기부여형 코딩 학습 경험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D5070E-EA3C-42C1-A034-7EAA13A4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B684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9B6846"/>
                </a:solidFill>
                <a:latin typeface="Noto Sans KR"/>
                <a:ea typeface="Noto Sans KR"/>
                <a:cs typeface="Noto Sans KR"/>
              </a:rPr>
              <a:t>2026. 09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7f369fcb96440e"/>
          <a:srcRect xmlns:a="http://schemas.openxmlformats.org/drawingml/2006/main" l="6010" t="0" r="60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1409700"/>
            <a:ext cx="5810250" cy="371475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</p:spTree>
    <p:extLst>
      <p:ext uri="{BB962C8B-B14F-4D97-AF65-F5344CB8AC3E}">
        <p14:creationId xmlns:p14="http://schemas.microsoft.com/office/powerpoint/2010/main" val="120883113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6855b1e16043d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5279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3d3c8d6c024dc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99616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376e02b33a448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2077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9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cabd5c69e347e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905500"/>
            <a:ext cx="12192000" cy="95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6BBDC1-5F5B-4297-A7F2-1E884183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28A45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F28A45"/>
                </a:solidFill>
                <a:latin typeface="Noto Sans KR"/>
                <a:ea typeface="Noto Sans KR"/>
                <a:cs typeface="Noto Sans KR"/>
              </a:rPr>
              <a:t>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FE3191-0EEC-4D45-B7B8-938378AA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575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매일 돌아오게 만드는 루프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29FE9A-1893-40D3-AD4E-D55BD2C4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1915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rPr>
              <a:t>학습 기록이 퀘스트와 출석 보상으로 자연스럽게 이어집니다.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07D071-F9BE-439A-B0D5-FE01FBA4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619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9B684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9B6846"/>
                </a:solidFill>
                <a:latin typeface="Noto Sans KR"/>
                <a:ea typeface="Noto Sans KR"/>
                <a:cs typeface="Noto Sans KR"/>
              </a:rPr>
              <a:t>고양이와 함께 배우는 즐거운 하루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81449A-F178-4AE9-B532-A6DBB506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1049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28A45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6076103a174815"/>
          <a:srcRect xmlns:a="http://schemas.openxmlformats.org/drawingml/2006/main" l="3295" t="0" r="329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447800"/>
            <a:ext cx="5219700" cy="314325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1c039ce7724271"/>
          <a:srcRect xmlns:a="http://schemas.openxmlformats.org/drawingml/2006/main" l="3295" t="0" r="329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62700" y="1447800"/>
            <a:ext cx="5219700" cy="314325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4CDD23-8152-4A82-A97B-D3E78B0B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76800"/>
            <a:ext cx="2000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A45"/>
          </a:solidFill>
          <a:ln xmlns:a="http://schemas.openxmlformats.org/drawingml/2006/main" w="19050">
            <a:solidFill>
              <a:srgbClr val="F28A45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  문제 완료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9E6E66-3AC3-4215-BC9A-F0E1BDFF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857750"/>
            <a:ext cx="49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28A45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28A45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20E2D2-C5DF-428E-B600-494D289E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876800"/>
            <a:ext cx="20955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0985E"/>
          </a:solidFill>
          <a:ln xmlns:a="http://schemas.openxmlformats.org/drawingml/2006/main" w="19050">
            <a:solidFill>
              <a:srgbClr val="80985E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  퀘스트 보상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21F6B5-A462-4932-8AEE-211ED56C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857750"/>
            <a:ext cx="49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28A45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28A45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D67241-ACE8-4DC4-BDDC-4A62926C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76800"/>
            <a:ext cx="20955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A45"/>
          </a:solidFill>
          <a:ln xmlns:a="http://schemas.openxmlformats.org/drawingml/2006/main" w="19050">
            <a:solidFill>
              <a:srgbClr val="F28A45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  출석 스트릭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79E814-7187-4BB8-8C36-BA2D574A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857750"/>
            <a:ext cx="49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28A45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28A45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760EC9-9799-4FA7-89CE-CB5DA172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876800"/>
            <a:ext cx="1809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0985E"/>
          </a:solidFill>
          <a:ln xmlns:a="http://schemas.openxmlformats.org/drawingml/2006/main" w="19050">
            <a:solidFill>
              <a:srgbClr val="80985E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  다음 학습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516A88-42AA-42A6-9C1F-00FD2634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391150"/>
            <a:ext cx="828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28A4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28A45"/>
                </a:solidFill>
                <a:latin typeface="Noto Sans KR"/>
                <a:ea typeface="Noto Sans KR"/>
                <a:cs typeface="Noto Sans KR"/>
              </a:rPr>
              <a:t>현재 퀘스트 보상은 코인만 제공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76549E-2FAC-46BC-BD72-0F907AE1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638800"/>
            <a:ext cx="828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rPr>
              <a:t>오늘 문제를 풀지 않았다면 연속 학습 문구를 표시하지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764205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9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6cde73b660495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905500"/>
            <a:ext cx="12192000" cy="95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2C1D38-CA75-45C4-8A36-0B66EF8C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28A45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F28A45"/>
                </a:solidFill>
                <a:latin typeface="Noto Sans KR"/>
                <a:ea typeface="Noto Sans KR"/>
                <a:cs typeface="Noto Sans KR"/>
              </a:rPr>
              <a:t>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DAA5B8-5228-401D-BF32-01F4FC3A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575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보상이 공간으로 바뀌는 경제·하우징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80DB80-CE45-469A-9F67-2A894EBD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1915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rPr>
              <a:t>코인 하나로 구매하고, 보유 자산을 배치해 나만의 방을 완성합니다.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D98051-5878-4C59-9DE9-5070F391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619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9B684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9B6846"/>
                </a:solidFill>
                <a:latin typeface="Noto Sans KR"/>
                <a:ea typeface="Noto Sans KR"/>
                <a:cs typeface="Noto Sans KR"/>
              </a:rPr>
              <a:t>고양이와 함께 배우는 즐거운 하루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7928F0-7835-421F-B9B5-D6D1CB65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1049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28A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E497A4-3015-4B67-AB0E-DD770024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3333750" cy="3676650"/>
          </a:xfrm>
          <a:prstGeom xmlns:a="http://schemas.openxmlformats.org/drawingml/2006/main" prst="roundRect">
            <a:avLst>
              <a:gd name="adj" fmla="val 6286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EAA16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0fbec25e324c86"/>
          <a:srcRect xmlns:a="http://schemas.openxmlformats.org/drawingml/2006/main" l="9347" t="0" r="93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00200"/>
            <a:ext cx="3028950" cy="2095500"/>
          </a:xfrm>
          <a:prstGeom xmlns:a="http://schemas.openxmlformats.org/drawingml/2006/main" prst="roundRect">
            <a:avLst>
              <a:gd name="adj" fmla="val 6364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17E717-A52F-40EB-A0FF-68B62B16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상점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2EB78A-2775-4F0C-8DE5-D631E0AB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E584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E584C"/>
                </a:solidFill>
                <a:latin typeface="Noto Sans KR"/>
                <a:ea typeface="Noto Sans KR"/>
                <a:cs typeface="Noto Sans KR"/>
              </a:rPr>
              <a:t>서버 가격·잔액 검증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53A9A0-559D-44D8-99A6-9BD08B71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695825"/>
            <a:ext cx="1428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A45"/>
          </a:solidFill>
          <a:ln xmlns:a="http://schemas.openxmlformats.org/drawingml/2006/main" w="19050">
            <a:solidFill>
              <a:srgbClr val="F28A45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Purchase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75CE2E-3B25-4D2E-B1D0-C7ADCB03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428750"/>
            <a:ext cx="3333750" cy="3676650"/>
          </a:xfrm>
          <a:prstGeom xmlns:a="http://schemas.openxmlformats.org/drawingml/2006/main" prst="roundRect">
            <a:avLst>
              <a:gd name="adj" fmla="val 6286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EAA16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edae38df4144df"/>
          <a:srcRect xmlns:a="http://schemas.openxmlformats.org/drawingml/2006/main" l="9347" t="0" r="93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24350" y="1600200"/>
            <a:ext cx="3028950" cy="2095500"/>
          </a:xfrm>
          <a:prstGeom xmlns:a="http://schemas.openxmlformats.org/drawingml/2006/main" prst="roundRect">
            <a:avLst>
              <a:gd name="adj" fmla="val 6364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FD92B5-2F93-4735-A9C9-6D3D10E6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9052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보유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A5FD81-3363-4BD7-9FEC-D47DD7FC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30530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E584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E584C"/>
                </a:solidFill>
                <a:latin typeface="Noto Sans KR"/>
                <a:ea typeface="Noto Sans KR"/>
                <a:cs typeface="Noto Sans KR"/>
              </a:rPr>
              <a:t>통합 assets 조회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E71CC7-5B4C-4358-9A57-71A642E0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695825"/>
            <a:ext cx="1428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0985E"/>
          </a:solidFill>
          <a:ln xmlns:a="http://schemas.openxmlformats.org/drawingml/2006/main" w="19050">
            <a:solidFill>
              <a:srgbClr val="80985E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Asset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C94860-7B49-49F2-B8C2-3EDA3570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28750"/>
            <a:ext cx="3333750" cy="3676650"/>
          </a:xfrm>
          <a:prstGeom xmlns:a="http://schemas.openxmlformats.org/drawingml/2006/main" prst="roundRect">
            <a:avLst>
              <a:gd name="adj" fmla="val 6286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EAA16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646720bbe04013"/>
          <a:srcRect xmlns:a="http://schemas.openxmlformats.org/drawingml/2006/main" l="9347" t="0" r="93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62900" y="1600200"/>
            <a:ext cx="3028950" cy="2095500"/>
          </a:xfrm>
          <a:prstGeom xmlns:a="http://schemas.openxmlformats.org/drawingml/2006/main" prst="roundRect">
            <a:avLst>
              <a:gd name="adj" fmla="val 6364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171D0A-3489-4800-BA5F-2566537D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052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배치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EFF837-F866-43DE-B52F-B8399281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0530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E584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E584C"/>
                </a:solidFill>
                <a:latin typeface="Noto Sans KR"/>
                <a:ea typeface="Noto Sans KR"/>
                <a:cs typeface="Noto Sans KR"/>
              </a:rPr>
              <a:t>소유권·좌표 검증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153E3C-F43A-42CB-9AF2-FD45442A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695825"/>
            <a:ext cx="1428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A45"/>
          </a:solidFill>
          <a:ln xmlns:a="http://schemas.openxmlformats.org/drawingml/2006/main" w="19050">
            <a:solidFill>
              <a:srgbClr val="F28A45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Placement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BE6E4C-A245-4D83-A5DD-0FA51D7D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4292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B684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9B6846"/>
                </a:solidFill>
                <a:latin typeface="Noto Sans KR"/>
                <a:ea typeface="Noto Sans KR"/>
                <a:cs typeface="Noto Sans KR"/>
              </a:rPr>
              <a:t>구매 · 자산 지급 · 잔액 변경은 한 트랜잭션으로 처리</a:t>
            </a:r>
          </a:p>
        </p:txBody>
      </p:sp>
    </p:spTree>
    <p:extLst>
      <p:ext uri="{BB962C8B-B14F-4D97-AF65-F5344CB8AC3E}">
        <p14:creationId xmlns:p14="http://schemas.microsoft.com/office/powerpoint/2010/main" val="521100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9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07c7d5d3de4ba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905500"/>
            <a:ext cx="12192000" cy="95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0FEA04-1A94-42C5-9B08-A01BC7E8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28A45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F28A45"/>
                </a:solidFill>
                <a:latin typeface="Noto Sans KR"/>
                <a:ea typeface="Noto Sans KR"/>
                <a:cs typeface="Noto Sans KR"/>
              </a:rPr>
              <a:t>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6A2CBD-BF3B-4394-9E4A-F40D900D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575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뽑기의 재미와 도감의 목표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65FC2F-77FB-426A-BF23-F4E3DA8F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1915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rPr>
              <a:t>중복 보상과 전체 카탈로그를 서버 데이터로 일관되게 관리합니다.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D27E98-34FE-468F-BE72-F62DA40F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619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9B684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9B6846"/>
                </a:solidFill>
                <a:latin typeface="Noto Sans KR"/>
                <a:ea typeface="Noto Sans KR"/>
                <a:cs typeface="Noto Sans KR"/>
              </a:rPr>
              <a:t>고양이와 함께 배우는 즐거운 하루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7DFABC-ADAF-4A45-A25E-8FFA9636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1049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28A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9B31F6-26BF-4339-96D0-6A1B3FBCF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5334000" cy="37147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EAA16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213714-7159-425E-8C98-0A09621E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5334000" cy="37147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EAA16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06e701dc8248d9"/>
          <a:srcRect xmlns:a="http://schemas.openxmlformats.org/drawingml/2006/main" l="0" t="2821" r="0" b="28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1619250"/>
            <a:ext cx="4953000" cy="2628900"/>
          </a:xfrm>
          <a:prstGeom xmlns:a="http://schemas.openxmlformats.org/drawingml/2006/main" prst="roundRect">
            <a:avLst>
              <a:gd name="adj" fmla="val 5797"/>
            </a:avLst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0609c6c9564f6d"/>
          <a:srcRect xmlns:a="http://schemas.openxmlformats.org/drawingml/2006/main" l="0" t="2821" r="0" b="28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15100" y="1619250"/>
            <a:ext cx="4953000" cy="2628900"/>
          </a:xfrm>
          <a:prstGeom xmlns:a="http://schemas.openxmlformats.org/drawingml/2006/main" prst="roundRect">
            <a:avLst>
              <a:gd name="adj" fmla="val 5797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548245-D781-45A2-9B29-0C8E9C20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8A45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28A45"/>
                </a:solidFill>
                <a:latin typeface="Noto Sans KR"/>
                <a:ea typeface="Noto Sans KR"/>
                <a:cs typeface="Noto Sans KR"/>
              </a:rPr>
              <a:t>GACHA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B1149-5FD9-4C74-A2F6-C9D525C18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4767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584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E584C"/>
                </a:solidFill>
                <a:latin typeface="Noto Sans KR"/>
                <a:ea typeface="Noto Sans KR"/>
                <a:cs typeface="Noto Sans KR"/>
              </a:rPr>
              <a:t>request_id 멱등성 · 중복 고양이 보상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F5CA28-B0CF-4CD1-B176-9BF4741A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767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0985E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80985E"/>
                </a:solidFill>
                <a:latin typeface="Noto Sans KR"/>
                <a:ea typeface="Noto Sans KR"/>
                <a:cs typeface="Noto Sans KR"/>
              </a:rPr>
              <a:t>CATALOG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411216-DE98-4BC5-BBCA-151A6589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767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584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E584C"/>
                </a:solidFill>
                <a:latin typeface="Noto Sans KR"/>
                <a:ea typeface="Noto Sans KR"/>
                <a:cs typeface="Noto Sans KR"/>
              </a:rPr>
              <a:t>미보유 포함 전체 종류 · 보유 상태 표시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C8F95C-7CC8-4150-BBFA-0DDCBE8A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5372100"/>
            <a:ext cx="60388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B6846"/>
          </a:solidFill>
          <a:ln xmlns:a="http://schemas.openxmlformats.org/drawingml/2006/main" w="19050">
            <a:solidFill>
              <a:srgbClr val="9B6846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뽑기 결과 → assets 반영 → 도감 즉시 갱신</a:t>
            </a:r>
          </a:p>
        </p:txBody>
      </p:sp>
    </p:spTree>
    <p:extLst>
      <p:ext uri="{BB962C8B-B14F-4D97-AF65-F5344CB8AC3E}">
        <p14:creationId xmlns:p14="http://schemas.microsoft.com/office/powerpoint/2010/main" val="20963354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07256449d64ed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628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43bb68218b43a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5215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9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f198b7ca5746a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905500"/>
            <a:ext cx="12192000" cy="95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847031-5A2B-4EB7-BF29-AEB45103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28A45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F28A45"/>
                </a:solidFill>
                <a:latin typeface="Noto Sans KR"/>
                <a:ea typeface="Noto Sans KR"/>
                <a:cs typeface="Noto Sans KR"/>
              </a:rPr>
              <a:t>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568916-384C-4D55-8564-7BFC5E8D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575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프런트엔드: 화면과 규칙의 경계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84C8A0-9406-45EA-8B81-1767DD60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1915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rPr>
              <a:t>PixiJS 장면은 네트워크·저장소 구현을 모르고 GameClient 계약만 사용합니다.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3380AE-CCAA-4BF4-9089-4AA34F52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619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9B684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9B6846"/>
                </a:solidFill>
                <a:latin typeface="Noto Sans KR"/>
                <a:ea typeface="Noto Sans KR"/>
                <a:cs typeface="Noto Sans KR"/>
              </a:rPr>
              <a:t>고양이와 함께 배우는 즐거운 하루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00C328-B0A0-4205-9ABF-712599A19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1049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28A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8A3E45-61AB-467D-9C55-8FA04AA1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234315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0E4"/>
          </a:solidFill>
          <a:ln xmlns:a="http://schemas.openxmlformats.org/drawingml/2006/main" w="19050">
            <a:solidFill>
              <a:srgbClr val="EAA16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D516CE-C191-42B5-B312-6648E8821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PixiJS Scene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CE8C48-3C68-4586-9489-8B32DEC1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6692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rPr>
              <a:t>화면·입력·애니메이션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201F8A-73C6-4308-86A0-2562F09D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581150"/>
            <a:ext cx="234315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E9F0D9"/>
          </a:solidFill>
          <a:ln xmlns:a="http://schemas.openxmlformats.org/drawingml/2006/main" w="19050">
            <a:solidFill>
              <a:srgbClr val="EAA16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A882BD-4D2C-4883-B78E-E4CF5805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145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GameClient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D37FDF-F226-4115-BFED-93745083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6692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rPr>
              <a:t>UI가 의존하는 단일 계약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56EBD1-F9DC-4F00-B808-3A7C0C48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581150"/>
            <a:ext cx="234315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0E4"/>
          </a:solidFill>
          <a:ln xmlns:a="http://schemas.openxmlformats.org/drawingml/2006/main" w="19050">
            <a:solidFill>
              <a:srgbClr val="EAA16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403C3C-B5AC-4009-8DA2-628D3ED3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541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BackendLearning</a:t>
            </a:r>
          </a:p>
          <a:p xmlns:a="http://schemas.openxmlformats.org/drawingml/2006/main">
            <a:pPr algn="ctr">
              <a:defRPr sz="150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GameClient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DF06EA-1C65-405D-97AF-2E6D2D27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6692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rPr>
              <a:t>서버 상태를 게임 상태로 변환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2667DA-1160-4B95-AA76-22EF833F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581150"/>
            <a:ext cx="234315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E9F0D9"/>
          </a:solidFill>
          <a:ln xmlns:a="http://schemas.openxmlformats.org/drawingml/2006/main" w="19050">
            <a:solidFill>
              <a:srgbClr val="EAA16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16FA56-E908-49C0-911D-BEE1A589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145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BackendApiClient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CEF9D5-E81D-4B45-8102-B6862142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6692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rPr>
              <a:t>HTTP·JSON·Cookie·CSRF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BC7DBA-6FFA-44B2-BC09-2BE2B722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8097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28A45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28A45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7FBD1D-3EB6-4F96-B865-4FBFB375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8097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28A45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28A45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EB2B7E-5A81-460B-B853-955AFC29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097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28A45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28A45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D0647C-694F-4965-BCF7-BFF535F92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5105400" cy="2057400"/>
          </a:xfrm>
          <a:prstGeom xmlns:a="http://schemas.openxmlformats.org/drawingml/2006/main" prst="roundRect">
            <a:avLst>
              <a:gd name="adj" fmla="val 10185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EAA16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317C76-B51D-4DE0-81B7-A70DA41A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19450"/>
            <a:ext cx="1428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A45"/>
          </a:solidFill>
          <a:ln xmlns:a="http://schemas.openxmlformats.org/drawingml/2006/main" w="19050">
            <a:solidFill>
              <a:srgbClr val="F28A45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화면 계층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ECCFE2-4988-4B1F-A174-D90C7F66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19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28A45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F28A45"/>
                </a:solidFill>
                <a:latin typeface="Noto Sans KR"/>
                <a:ea typeface="Noto Sans KR"/>
                <a:cs typeface="Noto Sans KR"/>
              </a:rPr>
              <a:t>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852F1E-D132-4DF8-86C3-FC500D3F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52850"/>
            <a:ext cx="436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문구는 ko.json의 MessageId로 관리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FFEFCA-8655-4777-9D9E-22497D602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529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0985E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80985E"/>
                </a:solidFill>
                <a:latin typeface="Noto Sans KR"/>
                <a:ea typeface="Noto Sans KR"/>
                <a:cs typeface="Noto Sans KR"/>
              </a:rPr>
              <a:t>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993247-1C30-476B-9721-54ACC4E2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33850"/>
            <a:ext cx="436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CodeMirror·IME 입력은 브리지로 격리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E81DB5-EC86-4C92-840E-1931C08D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28A45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F28A45"/>
                </a:solidFill>
                <a:latin typeface="Noto Sans KR"/>
                <a:ea typeface="Noto Sans KR"/>
                <a:cs typeface="Noto Sans KR"/>
              </a:rPr>
              <a:t>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E14306-E623-4BC0-9EE0-2A08EEAE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14850"/>
            <a:ext cx="436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실패를 임의의 로컬 성공으로 대체하지 않음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E91D56-151B-496F-B528-06816394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09900"/>
            <a:ext cx="5105400" cy="2057400"/>
          </a:xfrm>
          <a:prstGeom xmlns:a="http://schemas.openxmlformats.org/drawingml/2006/main" prst="roundRect">
            <a:avLst>
              <a:gd name="adj" fmla="val 10185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EAA16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D942D7-FB4B-4CEB-8F39-25F7D13C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19450"/>
            <a:ext cx="1619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0985E"/>
          </a:solidFill>
          <a:ln xmlns:a="http://schemas.openxmlformats.org/drawingml/2006/main" w="19050">
            <a:solidFill>
              <a:srgbClr val="80985E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서버 상태 보호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C0CE97-657C-4F99-A933-92455CE7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290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0985E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80985E"/>
                </a:solidFill>
                <a:latin typeface="Noto Sans KR"/>
                <a:ea typeface="Noto Sans KR"/>
                <a:cs typeface="Noto Sans KR"/>
              </a:rPr>
              <a:t>stateVersion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E08256-DA0C-4A0A-ABA2-23536643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286250"/>
            <a:ext cx="440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584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E584C"/>
                </a:solidFill>
                <a:latin typeface="Noto Sans KR"/>
                <a:ea typeface="Noto Sans KR"/>
                <a:cs typeface="Noto Sans KR"/>
              </a:rPr>
              <a:t>현재 버전보다 작은 늦은 응답은 적용하지 않아</a:t>
            </a:r>
          </a:p>
          <a:p xmlns:a="http://schemas.openxmlformats.org/drawingml/2006/main">
            <a:pPr algn="l">
              <a:defRPr sz="1275" b="0">
                <a:solidFill>
                  <a:srgbClr val="6E584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E584C"/>
                </a:solidFill>
                <a:latin typeface="Noto Sans KR"/>
                <a:ea typeface="Noto Sans KR"/>
                <a:cs typeface="Noto Sans KR"/>
              </a:rPr>
              <a:t>동시 명령·재동기화의 화면 되돌림을 방지</a:t>
            </a:r>
          </a:p>
        </p:txBody>
      </p:sp>
    </p:spTree>
    <p:extLst>
      <p:ext uri="{BB962C8B-B14F-4D97-AF65-F5344CB8AC3E}">
        <p14:creationId xmlns:p14="http://schemas.microsoft.com/office/powerpoint/2010/main" val="85751951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9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00be943666405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905500"/>
            <a:ext cx="12192000" cy="95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9351C7-C852-4029-BE77-BB6628B4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28A45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F28A45"/>
                </a:solidFill>
                <a:latin typeface="Noto Sans KR"/>
                <a:ea typeface="Noto Sans KR"/>
                <a:cs typeface="Noto Sans KR"/>
              </a:rPr>
              <a:t>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85D2D2-0CEF-440C-A032-914057C1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575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백엔드: 기능 중심 모듈형 모놀리스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E65B3C-95A7-41F9-9DF2-8BCDD495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1915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rPr>
              <a:t>하나의 배포 단위 안에서 기능 경계와 트랜잭션 책임을 명확히 나눴습니다.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FA4C61-C1FE-4920-9F9A-4D6B2B40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619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9B684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9B6846"/>
                </a:solidFill>
                <a:latin typeface="Noto Sans KR"/>
                <a:ea typeface="Noto Sans KR"/>
                <a:cs typeface="Noto Sans KR"/>
              </a:rPr>
              <a:t>고양이와 함께 배우는 즐거운 하루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BFB834-F87E-4082-82EE-E3BF1A62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1049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28A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42A1A4-03EB-4C7B-9395-E777C1E0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219075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0E4"/>
          </a:solidFill>
          <a:ln xmlns:a="http://schemas.openxmlformats.org/drawingml/2006/main" w="19050">
            <a:solidFill>
              <a:srgbClr val="EAA16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25C387-6033-4071-ABC6-3A965CCB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3355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FastAPI Router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ED2DA1-7F68-44FB-B3E9-5C5CEA97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85975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rPr>
              <a:t>HTTP · 인증 · DTO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1F1858-3CB2-48DC-9298-C4294391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00200"/>
            <a:ext cx="219075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E9F0D9"/>
          </a:solidFill>
          <a:ln xmlns:a="http://schemas.openxmlformats.org/drawingml/2006/main" w="19050">
            <a:solidFill>
              <a:srgbClr val="EAA16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6249B9-269A-44BC-A729-05294942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3355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Service / UoW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7BAE0F-6519-44C1-BEAC-A1BFD904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85975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rPr>
              <a:t>업무 규칙 · 트랜잭션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C03437-637E-42F4-A24A-28C39D16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00200"/>
            <a:ext cx="219075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0E4"/>
          </a:solidFill>
          <a:ln xmlns:a="http://schemas.openxmlformats.org/drawingml/2006/main" w="19050">
            <a:solidFill>
              <a:srgbClr val="EAA16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D1CC64-F9C4-4A28-9E6E-AB744D12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3355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Repository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B28E21-AB86-4AF5-BDC8-BAED2BD7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85975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rPr>
              <a:t>조회 · 저장 · 행 잠금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D8C78C-6A54-4966-AAE4-334B0D93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00200"/>
            <a:ext cx="219075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E9F0D9"/>
          </a:solidFill>
          <a:ln xmlns:a="http://schemas.openxmlformats.org/drawingml/2006/main" w="19050">
            <a:solidFill>
              <a:srgbClr val="EAA16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41FD1B-8EF9-4E44-976D-B0EEF4BB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73355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PostgreSQL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D0275C-E090-4B49-9A6E-595D47C1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85975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rPr>
              <a:t>22개 업무 테이블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90FAB5-2AE1-400D-A45E-E5C49FCA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809750"/>
            <a:ext cx="40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28A45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28A45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CEF578-073B-44E9-BA8F-C2F9DF8B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809750"/>
            <a:ext cx="40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28A45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28A45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E608E7-9143-4EF8-86DD-02EE9E60C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09750"/>
            <a:ext cx="40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28A45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28A45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E7FAB2-BE80-43F2-BDF1-9849B198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기능 모듈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DA9FD1-04C7-4071-A6E4-31DD514F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05200"/>
            <a:ext cx="21526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A45"/>
          </a:solidFill>
          <a:ln xmlns:a="http://schemas.openxmlformats.org/drawingml/2006/main" w="19050">
            <a:solidFill>
              <a:srgbClr val="F28A45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identity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009E43-08C2-4C08-9A82-088C18EF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05200"/>
            <a:ext cx="21526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0985E"/>
          </a:solidFill>
          <a:ln xmlns:a="http://schemas.openxmlformats.org/drawingml/2006/main" w="19050">
            <a:solidFill>
              <a:srgbClr val="80985E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learning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FB925D-CCBA-4CD2-A603-4D2FC108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05200"/>
            <a:ext cx="21526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A45"/>
          </a:solidFill>
          <a:ln xmlns:a="http://schemas.openxmlformats.org/drawingml/2006/main" w="19050">
            <a:solidFill>
              <a:srgbClr val="F28A45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grading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BF1BBD-A9DA-4237-81A6-24EBC178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21526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0985E"/>
          </a:solidFill>
          <a:ln xmlns:a="http://schemas.openxmlformats.org/drawingml/2006/main" w="19050">
            <a:solidFill>
              <a:srgbClr val="80985E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daily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6DD0D8-CF57-47EE-9BD6-26097F70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57650"/>
            <a:ext cx="21526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A45"/>
          </a:solidFill>
          <a:ln xmlns:a="http://schemas.openxmlformats.org/drawingml/2006/main" w="19050">
            <a:solidFill>
              <a:srgbClr val="F28A45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shop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B47629-7328-456E-BB6F-D446F292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57650"/>
            <a:ext cx="21526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0985E"/>
          </a:solidFill>
          <a:ln xmlns:a="http://schemas.openxmlformats.org/drawingml/2006/main" w="19050">
            <a:solidFill>
              <a:srgbClr val="80985E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gacha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B8525A-6491-43E2-9718-B5FC744CB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0100"/>
            <a:ext cx="21526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A45"/>
          </a:solidFill>
          <a:ln xmlns:a="http://schemas.openxmlformats.org/drawingml/2006/main" w="19050">
            <a:solidFill>
              <a:srgbClr val="F28A45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housing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F51B4A-4944-4C83-A85F-BFC687910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10100"/>
            <a:ext cx="21526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0985E"/>
          </a:solidFill>
          <a:ln xmlns:a="http://schemas.openxmlformats.org/drawingml/2006/main" w="19050">
            <a:solidFill>
              <a:srgbClr val="80985E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cats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AF0CFC-7F19-4B9D-87D0-FFBB9934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610100"/>
            <a:ext cx="21526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A45"/>
          </a:solidFill>
          <a:ln xmlns:a="http://schemas.openxmlformats.org/drawingml/2006/main" w="19050">
            <a:solidFill>
              <a:srgbClr val="F28A45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battle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2DEE66-0502-4A64-8699-BE856585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752850"/>
            <a:ext cx="2305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2E3"/>
          </a:solidFill>
          <a:ln xmlns:a="http://schemas.openxmlformats.org/drawingml/2006/main" w="19050">
            <a:solidFill>
              <a:srgbClr val="EAA16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D876A9-9A02-4C44-B16C-70291D65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905250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내부 FK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8FB508-F360-4C28-BC8E-7358AA87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324350"/>
            <a:ext cx="1771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9B684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9B6846"/>
                </a:solidFill>
                <a:latin typeface="Noto Sans KR"/>
                <a:ea typeface="Noto Sans KR"/>
                <a:cs typeface="Noto Sans KR"/>
              </a:rPr>
              <a:t>INTEGER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7955925-4EDC-48E4-BA7A-C966EA3E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5295900"/>
            <a:ext cx="708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B684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9B6846"/>
                </a:solidFill>
                <a:latin typeface="Noto Sans KR"/>
                <a:ea typeface="Noto Sans KR"/>
                <a:cs typeface="Noto Sans KR"/>
              </a:rPr>
              <a:t>Repository는 commit하지 않고 서비스가 한 번만 커밋</a:t>
            </a:r>
          </a:p>
        </p:txBody>
      </p:sp>
    </p:spTree>
    <p:extLst>
      <p:ext uri="{BB962C8B-B14F-4D97-AF65-F5344CB8AC3E}">
        <p14:creationId xmlns:p14="http://schemas.microsoft.com/office/powerpoint/2010/main" val="9951098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9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4b644b3dfb406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905500"/>
            <a:ext cx="12192000" cy="95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CA3E5C-9F00-48CF-93BF-0B796455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28A45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F28A45"/>
                </a:solidFill>
                <a:latin typeface="Noto Sans KR"/>
                <a:ea typeface="Noto Sans KR"/>
                <a:cs typeface="Noto Sans KR"/>
              </a:rPr>
              <a:t>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A795A3-9D81-411B-A7A7-AA9CD919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575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API 경계: 내부 ID를 UUID로 변환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280F7A-0CCE-4D02-B84E-1C4C05B9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1915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rPr>
              <a:t>DB 성능과 외부 안전성을 동시에 얻기 위해 식별자를 이중화했습니다.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DE927E-8B3B-4393-86A4-1CB01C5A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619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9B684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9B6846"/>
                </a:solidFill>
                <a:latin typeface="Noto Sans KR"/>
                <a:ea typeface="Noto Sans KR"/>
                <a:cs typeface="Noto Sans KR"/>
              </a:rPr>
              <a:t>고양이와 함께 배우는 즐거운 하루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98BFB2-70C0-43D2-B6F3-18E8710C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1049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28A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82B505-1CC8-4C2C-9DA1-BCEBE42F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3352800" cy="337185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EAA16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295BFF-9EAD-4FA6-8246-B59BF81C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5240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B6846"/>
          </a:solidFill>
          <a:ln xmlns:a="http://schemas.openxmlformats.org/drawingml/2006/main" w="19050">
            <a:solidFill>
              <a:srgbClr val="9B6846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DATABASE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D7D87C-78B3-40BB-8D11-8C59B028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933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rPr>
              <a:t>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6D0418-1399-463F-A185-2FF39B89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860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42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7B8F9E-856E-4F6D-A77A-27D9ABA9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rPr>
              <a:t>cat_id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FE3FE9-B711-4DD8-9EBA-71759611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3845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2E48C6-BFAD-4230-BE9C-F018782D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81400"/>
            <a:ext cx="2571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9B6846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9B6846"/>
                </a:solidFill>
                <a:latin typeface="Noto Sans KR"/>
                <a:ea typeface="Noto Sans KR"/>
                <a:cs typeface="Noto Sans KR"/>
              </a:rPr>
              <a:t>관계·잠금·조인은</a:t>
            </a:r>
          </a:p>
          <a:p xmlns:a="http://schemas.openxmlformats.org/drawingml/2006/main">
            <a:pPr algn="l">
              <a:defRPr sz="1575" b="1">
                <a:solidFill>
                  <a:srgbClr val="9B6846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9B6846"/>
                </a:solidFill>
                <a:latin typeface="Noto Sans KR"/>
                <a:ea typeface="Noto Sans KR"/>
                <a:cs typeface="Noto Sans KR"/>
              </a:rPr>
              <a:t>INTEGER PK/FK 사용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9A90A8-E01A-444C-B461-EFA61F61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57400"/>
            <a:ext cx="3238500" cy="2133600"/>
          </a:xfrm>
          <a:prstGeom xmlns:a="http://schemas.openxmlformats.org/drawingml/2006/main" prst="roundRect">
            <a:avLst>
              <a:gd name="adj" fmla="val 13393"/>
            </a:avLst>
          </a:prstGeom>
          <a:solidFill xmlns:a="http://schemas.openxmlformats.org/drawingml/2006/main">
            <a:srgbClr val="FFF0E4"/>
          </a:solidFill>
          <a:ln xmlns:a="http://schemas.openxmlformats.org/drawingml/2006/main" w="19050">
            <a:solidFill>
              <a:srgbClr val="F28A4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CB5669-A883-4FE5-91A9-D307E65D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3241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명시적 DTO 변환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F4FFB8-A049-4035-9E6A-D770890D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3370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rPr>
              <a:t>cat.id → cat_public_id</a:t>
            </a:r>
          </a:p>
          <a:p xmlns:a="http://schemas.openxmlformats.org/drawingml/2006/main">
            <a:pPr algn="ctr">
              <a:defRPr sz="150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rPr>
              <a:t>asset.id → cat_asset_public_id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E821B7-A4C8-4970-860E-C9FFB0785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90825"/>
            <a:ext cx="57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F28A45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F28A45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7DCB4D-66F1-4A1E-966A-22A44575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466850"/>
            <a:ext cx="3295650" cy="3371850"/>
          </a:xfrm>
          <a:prstGeom xmlns:a="http://schemas.openxmlformats.org/drawingml/2006/main" prst="roundRect">
            <a:avLst>
              <a:gd name="adj" fmla="val 6936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EAA16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6EE108-79AC-41B1-9EA6-4F10D4CC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714500"/>
            <a:ext cx="16764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0985E"/>
          </a:solidFill>
          <a:ln xmlns:a="http://schemas.openxmlformats.org/drawingml/2006/main" w="19050">
            <a:solidFill>
              <a:srgbClr val="80985E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PUBLIC API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6D27C4-CC9F-44B9-93A7-22648E1D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431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rPr>
              <a:t>public_id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C4511E-07CB-4748-A610-2100B5A2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860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0985E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80985E"/>
                </a:solidFill>
                <a:latin typeface="Noto Sans KR"/>
                <a:ea typeface="Noto Sans KR"/>
                <a:cs typeface="Noto Sans KR"/>
              </a:rPr>
              <a:t>a17169ab-…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D1B990-899C-4F22-914A-B4A13CD8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575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rPr>
              <a:t>cat_public_id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B41FFB-72E2-4DA7-9409-6FBB0405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004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0985E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80985E"/>
                </a:solidFill>
                <a:latin typeface="Noto Sans KR"/>
                <a:ea typeface="Noto Sans KR"/>
                <a:cs typeface="Noto Sans KR"/>
              </a:rPr>
              <a:t>fb8821d9-…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7E1E41-A13F-42D5-8F2C-F158CBFC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내부 INTEGER id는</a:t>
            </a:r>
          </a:p>
          <a:p xmlns:a="http://schemas.openxmlformats.org/drawingml/2006/main">
            <a:pPr algn="l">
              <a:defRPr sz="1425" b="1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요청·응답에 노출하지 않음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FC654C-6DF0-444F-88F6-FD67EEA2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219700"/>
            <a:ext cx="94107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A45"/>
          </a:solidFill>
          <a:ln xmlns:a="http://schemas.openxmlformats.org/drawingml/2006/main" w="19050">
            <a:solidFill>
              <a:srgbClr val="F28A45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추측 가능한 순번 노출 방지 · 테이블 구조 변경 영향 축소 · 소유권 검사는 별도 수행</a:t>
            </a:r>
          </a:p>
        </p:txBody>
      </p:sp>
    </p:spTree>
    <p:extLst>
      <p:ext uri="{BB962C8B-B14F-4D97-AF65-F5344CB8AC3E}">
        <p14:creationId xmlns:p14="http://schemas.microsoft.com/office/powerpoint/2010/main" val="177525523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9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fb5f3387e540e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905500"/>
            <a:ext cx="12192000" cy="95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D7CB2A-3E6C-4414-A259-EB343664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28A45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F28A45"/>
                </a:solidFill>
                <a:latin typeface="Noto Sans KR"/>
                <a:ea typeface="Noto Sans KR"/>
                <a:cs typeface="Noto Sans KR"/>
              </a:rPr>
              <a:t>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E379CB-A272-4A2D-AAFC-E7E2C0D6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575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학습 설계: 같은 문제를 다른 방식으로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112087-AC3F-4E4A-A42A-6BA4E721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1915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rPr>
              <a:t>문제 수를 늘리는 것보다 난이도·표현·추천의 다양성을 함께 설계했습니다.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B666BF-7DAD-4848-819A-560DE9A8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619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9B684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9B6846"/>
                </a:solidFill>
                <a:latin typeface="Noto Sans KR"/>
                <a:ea typeface="Noto Sans KR"/>
                <a:cs typeface="Noto Sans KR"/>
              </a:rPr>
              <a:t>고양이와 함께 배우는 즐거운 하루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072139-6F45-4361-BBBA-B500E274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1049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28A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2D8C47-D88F-47C9-A06D-2E73CF2B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3105150" cy="3429000"/>
          </a:xfrm>
          <a:prstGeom xmlns:a="http://schemas.openxmlformats.org/drawingml/2006/main" prst="roundRect">
            <a:avLst>
              <a:gd name="adj" fmla="val 6748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EAA16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B9EFF3-BB9E-4119-8792-7039E265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142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28A45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F28A45"/>
                </a:solidFill>
                <a:latin typeface="Noto Sans KR"/>
                <a:ea typeface="Noto Sans KR"/>
                <a:cs typeface="Noto Sans KR"/>
              </a:rPr>
              <a:t>300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9D3A3F-5DCE-4180-818C-EB2CDAF0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총 학습 문제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3D2B7E-6C7B-4B0E-B5AB-400C1889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08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28A45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F28A45"/>
                </a:solidFill>
                <a:latin typeface="Noto Sans KR"/>
                <a:ea typeface="Noto Sans KR"/>
                <a:cs typeface="Noto Sans KR"/>
              </a:rPr>
              <a:t>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3DE752-142D-44D2-A7D8-0C5B0EDD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71800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Python 150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459310-AB5B-4187-BF18-8F334404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480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0985E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80985E"/>
                </a:solidFill>
                <a:latin typeface="Noto Sans KR"/>
                <a:ea typeface="Noto Sans KR"/>
                <a:cs typeface="Noto Sans KR"/>
              </a:rPr>
              <a:t>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4B21B6-804D-4EF6-AAEA-E8855C9E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SQL 150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8064BA-9B1C-4D1A-96D7-E542FB6C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28A45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F28A45"/>
                </a:solidFill>
                <a:latin typeface="Noto Sans KR"/>
                <a:ea typeface="Noto Sans KR"/>
                <a:cs typeface="Noto Sans KR"/>
              </a:rPr>
              <a:t>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1940F2-FD7C-4C75-8141-B3D6D17F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86200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난이도별 50문제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19B8D3-1FB0-4FBA-8E5D-7E1F614D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466850"/>
            <a:ext cx="3771900" cy="3429000"/>
          </a:xfrm>
          <a:prstGeom xmlns:a="http://schemas.openxmlformats.org/drawingml/2006/main" prst="roundRect">
            <a:avLst>
              <a:gd name="adj" fmla="val 6111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EAA16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854269-001C-4544-9326-E457C99C7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7526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객관식 표시 확률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1F3142-BFED-4BD4-AD32-5FEF670C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00300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BRONZE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6E4035-A3D0-4886-882C-1798C799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381250"/>
            <a:ext cx="1695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E6DC"/>
          </a:solidFill>
          <a:ln xmlns:a="http://schemas.openxmlformats.org/drawingml/2006/main" w="19050">
            <a:solidFill>
              <a:srgbClr val="ECE6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AED8B3-BA3C-4B06-8775-EB0F88BE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381250"/>
            <a:ext cx="8477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A45"/>
          </a:solidFill>
          <a:ln xmlns:a="http://schemas.openxmlformats.org/drawingml/2006/main" w="19050">
            <a:solidFill>
              <a:srgbClr val="F28A4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646EC6-3EE5-4132-A590-EBDA98B4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431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50%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C833C6-A057-4040-A901-0F2CCFD4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105150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SILVER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9761CF-915A-4BA9-A263-DD5A466E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086100"/>
            <a:ext cx="1695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E6DC"/>
          </a:solidFill>
          <a:ln xmlns:a="http://schemas.openxmlformats.org/drawingml/2006/main" w="19050">
            <a:solidFill>
              <a:srgbClr val="ECE6D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0661D1-5302-4241-9A3B-808A69A7D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086100"/>
            <a:ext cx="342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0985E"/>
          </a:solidFill>
          <a:ln xmlns:a="http://schemas.openxmlformats.org/drawingml/2006/main" w="19050">
            <a:solidFill>
              <a:srgbClr val="80985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0EE57E-9F64-4264-880F-086C8DF5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48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20%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B83E5A-2A11-4AA0-898D-9CB4B2D1F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810000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GOLD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84FB1F-0C5A-4BAA-AEF9-CC0D3596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790950"/>
            <a:ext cx="1695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E6DC"/>
          </a:solidFill>
          <a:ln xmlns:a="http://schemas.openxmlformats.org/drawingml/2006/main" w="19050">
            <a:solidFill>
              <a:srgbClr val="ECE6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DB2B60-9C07-4F26-AC2F-D0BDD429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790950"/>
            <a:ext cx="38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B6846"/>
          </a:solidFill>
          <a:ln xmlns:a="http://schemas.openxmlformats.org/drawingml/2006/main" w="19050">
            <a:solidFill>
              <a:srgbClr val="9B684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85441C-7053-4BAF-958A-33A48D5B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528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0%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E8EC61-51C3-472E-9973-BF6390EB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466850"/>
            <a:ext cx="3714750" cy="3429000"/>
          </a:xfrm>
          <a:prstGeom xmlns:a="http://schemas.openxmlformats.org/drawingml/2006/main" prst="roundRect">
            <a:avLst>
              <a:gd name="adj" fmla="val 6111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EAA16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104886-4617-4A18-B247-4EFFDF49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526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Presentation 세션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34B727-3F73-41C2-9800-E87328E2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622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28A45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F28A45"/>
                </a:solidFill>
                <a:latin typeface="Noto Sans KR"/>
                <a:ea typeface="Noto Sans KR"/>
                <a:cs typeface="Noto Sans KR"/>
              </a:rPr>
              <a:t>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B5485F-B57E-4EAA-9537-931AC5DB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43150"/>
            <a:ext cx="2819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유형·보기 순서를 서버가 결정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553F86-5C9C-40E0-A039-4ADB725BF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575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0985E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80985E"/>
                </a:solidFill>
                <a:latin typeface="Noto Sans KR"/>
                <a:ea typeface="Noto Sans KR"/>
                <a:cs typeface="Noto Sans KR"/>
              </a:rPr>
              <a:t>●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88B545-FE42-407D-A4AD-4C36EEFC9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38450"/>
            <a:ext cx="2819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A~D 정답 위치를 매번 섞음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616CDF-D5EA-427C-B2DF-3898063A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528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28A45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F28A45"/>
                </a:solidFill>
                <a:latin typeface="Noto Sans KR"/>
                <a:ea typeface="Noto Sans KR"/>
                <a:cs typeface="Noto Sans KR"/>
              </a:rPr>
              <a:t>●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6573286-7A36-4742-82A4-1C5D5B30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33750"/>
            <a:ext cx="2819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새로고침·재시도에는 고정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A599F5B-D325-49E7-AD45-2F3DD214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481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0985E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80985E"/>
                </a:solidFill>
                <a:latin typeface="Noto Sans KR"/>
                <a:ea typeface="Noto Sans KR"/>
                <a:cs typeface="Noto Sans KR"/>
              </a:rPr>
              <a:t>●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9FAE2C1-908E-4B19-B2A0-18472B7C4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29050"/>
            <a:ext cx="2819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추천 부족 시 범위를 단계적으로 확장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76ED3DF-EAC7-48DB-9668-A58FA214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257800"/>
            <a:ext cx="59817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A45"/>
          </a:solidFill>
          <a:ln xmlns:a="http://schemas.openxmlformats.org/drawingml/2006/main" w="19050">
            <a:solidFill>
              <a:srgbClr val="F28A45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한 논리 문제 → 직접 작성형 + 객관식 경험</a:t>
            </a:r>
          </a:p>
        </p:txBody>
      </p:sp>
    </p:spTree>
    <p:extLst>
      <p:ext uri="{BB962C8B-B14F-4D97-AF65-F5344CB8AC3E}">
        <p14:creationId xmlns:p14="http://schemas.microsoft.com/office/powerpoint/2010/main" val="204256827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9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a6d4d6242c4d4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905500"/>
            <a:ext cx="12192000" cy="95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2BD129-2518-4AA0-810F-3912C3F6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28A45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F28A45"/>
                </a:solidFill>
                <a:latin typeface="Noto Sans KR"/>
                <a:ea typeface="Noto Sans KR"/>
                <a:cs typeface="Noto Sans KR"/>
              </a:rPr>
              <a:t>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2353DC-E685-4713-9E02-F7D297FF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575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채점 파이프라인: API와 실행 환경 분리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DD5AF5-D6A7-4495-9162-16AF50F0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1915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rPr>
              <a:t>제출 코드는 API 프로세스가 직접 실행하지 않습니다.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23D98F-DF7C-4730-AF5E-B37D1840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619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9B684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9B6846"/>
                </a:solidFill>
                <a:latin typeface="Noto Sans KR"/>
                <a:ea typeface="Noto Sans KR"/>
                <a:cs typeface="Noto Sans KR"/>
              </a:rPr>
              <a:t>고양이와 함께 배우는 즐거운 하루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85AA8C-85B5-4612-81BF-FFF3DD71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1049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28A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9A408C-46EA-4BCB-B24A-102E0EEF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203835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0E4"/>
          </a:solidFill>
          <a:ln xmlns:a="http://schemas.openxmlformats.org/drawingml/2006/main" w="19050">
            <a:solidFill>
              <a:srgbClr val="EAA16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7D4434-2B7A-41A9-BD1A-4EB7F088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1  제출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4AE719-3395-43F6-8AF8-FF67C9BB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66925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rPr>
              <a:t>request_id 저장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228525-E83A-431B-8AA3-4E165BC7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81150"/>
            <a:ext cx="203835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E9F0D9"/>
          </a:solidFill>
          <a:ln xmlns:a="http://schemas.openxmlformats.org/drawingml/2006/main" w="19050">
            <a:solidFill>
              <a:srgbClr val="EAA16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8CA688-A867-4FA7-9FA6-53C1475C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1450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2  PENDING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3B0AE0-0E24-4DEE-801E-E0A7AA90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66925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rPr>
              <a:t>DB에 시도 생성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96C3C8-BB72-43A3-BB4C-0C849D21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581150"/>
            <a:ext cx="203835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0E4"/>
          </a:solidFill>
          <a:ln xmlns:a="http://schemas.openxmlformats.org/drawingml/2006/main" w="19050">
            <a:solidFill>
              <a:srgbClr val="EAA16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4BFB48-3095-47D0-970F-E44193C8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1450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3  Worker 임대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32270B-731D-4148-AE65-800B2537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66925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rPr>
              <a:t>SKIP LOCKED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93248C-CF8E-49E6-ACDB-73DC64267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581150"/>
            <a:ext cx="203835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E9F0D9"/>
          </a:solidFill>
          <a:ln xmlns:a="http://schemas.openxmlformats.org/drawingml/2006/main" w="19050">
            <a:solidFill>
              <a:srgbClr val="EAA16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1F1F3E-5F42-46A3-A9E3-FC8A93CB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1450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4  격리 채점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05E918-5BB5-4292-8D8F-EC05F072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066925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rPr>
              <a:t>Python / SQL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9C4618-F304-407B-B276-909F7085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581150"/>
            <a:ext cx="203835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0E4"/>
          </a:solidFill>
          <a:ln xmlns:a="http://schemas.openxmlformats.org/drawingml/2006/main" w="19050">
            <a:solidFill>
              <a:srgbClr val="EAA16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89C90D-BA00-4055-A563-5C199B9A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71450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5  결과·보상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3FD0D3-ADC6-41A3-A4F9-9A48D129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066925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rPr>
              <a:t>한 번만 커밋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979666-DFE2-46E4-AB18-7E6EB8B6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809750"/>
            <a:ext cx="323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94017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28A45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28A45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203EF1-F02F-40A5-845C-740A454F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809750"/>
            <a:ext cx="323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94017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28A45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28A45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7CC4F9-5717-4C69-B95B-FB8B8537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09750"/>
            <a:ext cx="323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94017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28A45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28A45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929196-01C0-4E47-B7B8-86E9971C7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809750"/>
            <a:ext cx="323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94017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28A45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28A45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E91E9E-4047-49C0-BDAD-787584CA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5162550" cy="2000250"/>
          </a:xfrm>
          <a:prstGeom xmlns:a="http://schemas.openxmlformats.org/drawingml/2006/main" prst="roundRect">
            <a:avLst>
              <a:gd name="adj" fmla="val 10476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EAA16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AE7766-E551-4589-86AF-C288F598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14700"/>
            <a:ext cx="11049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A45"/>
          </a:solidFill>
          <a:ln xmlns:a="http://schemas.openxmlformats.org/drawingml/2006/main" w="19050">
            <a:solidFill>
              <a:srgbClr val="F28A45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격리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BD9EDE-306D-45D9-9037-CD424FD3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90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28A45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F28A45"/>
                </a:solidFill>
                <a:latin typeface="Noto Sans KR"/>
                <a:ea typeface="Noto Sans KR"/>
                <a:cs typeface="Noto Sans KR"/>
              </a:rPr>
              <a:t>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71FB0F-B154-4D4B-A6C0-D65B43B8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100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Python: 제한된 채점 컨테이너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2AF35E-616D-4B05-8CB0-AB6AE374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100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0985E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80985E"/>
                </a:solidFill>
                <a:latin typeface="Noto Sans KR"/>
                <a:ea typeface="Noto Sans KR"/>
                <a:cs typeface="Noto Sans KR"/>
              </a:rPr>
              <a:t>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F2FAC9-63A3-42B9-BBB6-1ADBEF09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910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SQL: 운영 DB와 분리한 전용 PostgreSQL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B96916-0DF2-4053-B27E-BA65F2CB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910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28A45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F28A45"/>
                </a:solidFill>
                <a:latin typeface="Noto Sans KR"/>
                <a:ea typeface="Noto Sans KR"/>
                <a:cs typeface="Noto Sans KR"/>
              </a:rPr>
              <a:t>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DC1CD3-1D89-4EDE-92AD-F7F3E82B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720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시간·출력·메모리 제한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528D00-822F-40FD-9E35-E39ED6AA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86100"/>
            <a:ext cx="5162550" cy="2000250"/>
          </a:xfrm>
          <a:prstGeom xmlns:a="http://schemas.openxmlformats.org/drawingml/2006/main" prst="roundRect">
            <a:avLst>
              <a:gd name="adj" fmla="val 10476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EAA16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EF1060-D57C-4A7C-9828-ACDCA154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14700"/>
            <a:ext cx="1428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0985E"/>
          </a:solidFill>
          <a:ln xmlns:a="http://schemas.openxmlformats.org/drawingml/2006/main" w="19050">
            <a:solidFill>
              <a:srgbClr val="80985E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공개 결과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444D4E4-5902-4523-BC6E-29F51D98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290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28A45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F28A45"/>
                </a:solidFill>
                <a:latin typeface="Noto Sans KR"/>
                <a:ea typeface="Noto Sans KR"/>
                <a:cs typeface="Noto Sans KR"/>
              </a:rPr>
              <a:t>●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2BEA7C-9885-4A5B-8CDD-B03F156B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100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ACCEPTED / WRONG_ANSWER 등 판정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A6FEDC6-5515-48E2-8C8D-92583C79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100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0985E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80985E"/>
                </a:solidFill>
                <a:latin typeface="Noto Sans KR"/>
                <a:ea typeface="Noto Sans KR"/>
                <a:cs typeface="Noto Sans KR"/>
              </a:rPr>
              <a:t>●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1325276-7F28-4F60-A471-ED104B1B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1910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passed / total만 응답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7AABC0-BFCB-406D-9ABB-3EE17A63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5910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28A45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F28A45"/>
                </a:solidFill>
                <a:latin typeface="Noto Sans KR"/>
                <a:ea typeface="Noto Sans KR"/>
                <a:cs typeface="Noto Sans KR"/>
              </a:rPr>
              <a:t>●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B5D68C6-60C4-456D-8606-B63D0334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5720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테스트 케이스·표준 오류·제출 코드는 비공개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C6A7E0B-A37C-4CF6-9715-979F39EC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3911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B684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9B6846"/>
                </a:solidFill>
                <a:latin typeface="Noto Sans KR"/>
                <a:ea typeface="Noto Sans KR"/>
                <a:cs typeface="Noto Sans KR"/>
              </a:rPr>
              <a:t>만료된 RUNNING 임대는 회수하고, lease token으로 늦은 워커 결과를 거부</a:t>
            </a:r>
          </a:p>
        </p:txBody>
      </p:sp>
    </p:spTree>
    <p:extLst>
      <p:ext uri="{BB962C8B-B14F-4D97-AF65-F5344CB8AC3E}">
        <p14:creationId xmlns:p14="http://schemas.microsoft.com/office/powerpoint/2010/main" val="162946326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9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ed1e92374f4f8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905500"/>
            <a:ext cx="12192000" cy="95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93AC38-CB96-45CE-BCDB-670F55FC1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28A45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F28A45"/>
                </a:solidFill>
                <a:latin typeface="Noto Sans KR"/>
                <a:ea typeface="Noto Sans KR"/>
                <a:cs typeface="Noto Sans KR"/>
              </a:rPr>
              <a:t>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B6EFD9-398C-4010-8247-F1ABFB04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575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중복 요청에도 한 번만: 멱등성 트랜잭션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7728A9-C6A8-402A-95A3-2FC4ADA1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1915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rPr>
              <a:t>네트워크 재시도와 더블 클릭이 잔액·자산을 두 번 바꾸지 않게 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334920-2A4B-4807-928E-B725A0D8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619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9B684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9B6846"/>
                </a:solidFill>
                <a:latin typeface="Noto Sans KR"/>
                <a:ea typeface="Noto Sans KR"/>
                <a:cs typeface="Noto Sans KR"/>
              </a:rPr>
              <a:t>고양이와 함께 배우는 즐거운 하루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460F47-38F7-470A-A9EE-AB7CD2FFD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1049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28A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054C10-CA03-4491-974E-A5434EDE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4762500" cy="3638550"/>
          </a:xfrm>
          <a:prstGeom xmlns:a="http://schemas.openxmlformats.org/drawingml/2006/main" prst="roundRect">
            <a:avLst>
              <a:gd name="adj" fmla="val 6283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EAA16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4482D8-1236-4B73-B8D3-CFF49DBE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526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요청 지문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A9EF11-AEC0-416D-98FE-8AB762352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584C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E584C"/>
                </a:solidFill>
                <a:latin typeface="Noto Sans KR"/>
                <a:ea typeface="Noto Sans KR"/>
                <a:cs typeface="Noto Sans KR"/>
              </a:rPr>
              <a:t>request_id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D081B5-4E2D-4E80-BDD6-595282FB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24100"/>
            <a:ext cx="12001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0985E"/>
          </a:solidFill>
          <a:ln xmlns:a="http://schemas.openxmlformats.org/drawingml/2006/main" w="19050">
            <a:solidFill>
              <a:srgbClr val="80985E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UUID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514251-04D1-46DC-8249-2E4D8C88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584C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E584C"/>
                </a:solidFill>
                <a:latin typeface="Noto Sans KR"/>
                <a:ea typeface="Noto Sans KR"/>
                <a:cs typeface="Noto Sans KR"/>
              </a:rPr>
              <a:t>canonical JSON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433390-0052-4D6A-8BA1-C2A9AF17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933700"/>
            <a:ext cx="16573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A45"/>
          </a:solidFill>
          <a:ln xmlns:a="http://schemas.openxmlformats.org/drawingml/2006/main" w="19050">
            <a:solidFill>
              <a:srgbClr val="F28A45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정렬 + 공백 규칙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B520D2-C0CB-4EF5-ACDF-7B8A9597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814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584C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E584C"/>
                </a:solidFill>
                <a:latin typeface="Noto Sans KR"/>
                <a:ea typeface="Noto Sans KR"/>
                <a:cs typeface="Noto Sans KR"/>
              </a:rPr>
              <a:t>request_hash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DEF66E-5E8E-4645-BEEE-38AAE352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43300"/>
            <a:ext cx="13716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B6846"/>
          </a:solidFill>
          <a:ln xmlns:a="http://schemas.openxmlformats.org/drawingml/2006/main" w="19050">
            <a:solidFill>
              <a:srgbClr val="9B6846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SHA-256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60A5F7-D8EC-430B-B85F-E8E7ADFF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684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9B6846"/>
                </a:solidFill>
                <a:latin typeface="Noto Sans KR"/>
                <a:ea typeface="Noto Sans KR"/>
                <a:cs typeface="Noto Sans KR"/>
              </a:rPr>
              <a:t>같은 request_id + 같은 hash = 저장된 결과 재사용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C1C24E-DA24-4BDA-BE86-61491A5A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466850"/>
            <a:ext cx="5924550" cy="3638550"/>
          </a:xfrm>
          <a:prstGeom xmlns:a="http://schemas.openxmlformats.org/drawingml/2006/main" prst="roundRect">
            <a:avLst>
              <a:gd name="adj" fmla="val 6283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EAA16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A27F93-540A-4CD5-BD2C-07F140E9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7526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claim 결과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FC7C9C-07A0-45CB-96AC-37F9F3D9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43150"/>
            <a:ext cx="17907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0985E"/>
          </a:solidFill>
          <a:ln xmlns:a="http://schemas.openxmlformats.org/drawingml/2006/main" w="19050">
            <a:solidFill>
              <a:srgbClr val="80985E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ACQUIRED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993FDE-A547-4581-98A0-A947F35E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71725"/>
            <a:ext cx="3067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신규 요청 → 업무 처리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771686-A064-45DC-A7D3-36E91F61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67050"/>
            <a:ext cx="17907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A45"/>
          </a:solidFill>
          <a:ln xmlns:a="http://schemas.openxmlformats.org/drawingml/2006/main" w="19050">
            <a:solidFill>
              <a:srgbClr val="F28A45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COMPLETED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7CC24E-FBE1-4591-97FF-711A5706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95625"/>
            <a:ext cx="3067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기존 성공 → 같은 결과 반환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8AB1CC-C0CB-4483-9047-0A5D4FE4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790950"/>
            <a:ext cx="17907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6552"/>
          </a:solidFill>
          <a:ln xmlns:a="http://schemas.openxmlformats.org/drawingml/2006/main" w="19050">
            <a:solidFill>
              <a:srgbClr val="D96552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HASH_CONFLICT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F1F364-11E7-4347-9D75-DFFA2CD7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819525"/>
            <a:ext cx="3067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사용자·내용 다름 → 409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3A202F-49DC-4563-8EFB-2BBEDD42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767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rPr>
              <a:t>잔액 차감 · 자산 지급 · 실행 결과 · stateVersion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D2BDAF-E23A-45A6-BC5C-5923910E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353050"/>
            <a:ext cx="76581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B6846"/>
          </a:solidFill>
          <a:ln xmlns:a="http://schemas.openxmlformats.org/drawingml/2006/main" w="19050">
            <a:solidFill>
              <a:srgbClr val="9B6846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ALL OR NOTHING — 한 번 커밋, 실패 시 전부 롤백</a:t>
            </a:r>
          </a:p>
        </p:txBody>
      </p:sp>
    </p:spTree>
    <p:extLst>
      <p:ext uri="{BB962C8B-B14F-4D97-AF65-F5344CB8AC3E}">
        <p14:creationId xmlns:p14="http://schemas.microsoft.com/office/powerpoint/2010/main" val="172614143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9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0eb6c5f7eb495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905500"/>
            <a:ext cx="12192000" cy="95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FE9A17-1CAC-4F07-9427-10C80072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28A45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F28A45"/>
                </a:solidFill>
                <a:latin typeface="Noto Sans KR"/>
                <a:ea typeface="Noto Sans KR"/>
                <a:cs typeface="Noto Sans KR"/>
              </a:rPr>
              <a:t>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BD29DF-52D3-498D-B964-067D578F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575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통합 실행: 한 주소에서 세션과 상태 연결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E51BC5-E19E-4C74-86F9-16084FF5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1915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rPr>
              <a:t>PWA·FastAPI·PostgreSQL·채점 워커를 역할별로 분리합니다.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62FC74-2367-44FD-879E-105AD521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619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9B684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9B6846"/>
                </a:solidFill>
                <a:latin typeface="Noto Sans KR"/>
                <a:ea typeface="Noto Sans KR"/>
                <a:cs typeface="Noto Sans KR"/>
              </a:rPr>
              <a:t>고양이와 함께 배우는 즐거운 하루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3F39B1-5288-4535-BA9C-92E59CE7C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1049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28A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8C44D0-765C-437A-8D67-5D7565CB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20955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0E4"/>
          </a:solidFill>
          <a:ln xmlns:a="http://schemas.openxmlformats.org/drawingml/2006/main" w="19050">
            <a:solidFill>
              <a:srgbClr val="EAA16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C3FDA6-855B-4D4E-A9D3-5270DFF3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Browser / PWA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800173-FA69-4C98-AC9C-70AD7C8C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28825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rPr>
              <a:t>PixiJS Canvas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8C99BC-6ADE-4D13-9CBC-F602C1B7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43050"/>
            <a:ext cx="19050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E9F0D9"/>
          </a:solidFill>
          <a:ln xmlns:a="http://schemas.openxmlformats.org/drawingml/2006/main" w="19050">
            <a:solidFill>
              <a:srgbClr val="EAA16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4AF7C5-FCF3-439E-8FFA-208DFD79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764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Nginx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302424-8BFB-4846-B971-689DB3ED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28825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rPr>
              <a:t>동일 출처 · CSP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E8E394-7642-4776-BA78-06727FDC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543050"/>
            <a:ext cx="20955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0E4"/>
          </a:solidFill>
          <a:ln xmlns:a="http://schemas.openxmlformats.org/drawingml/2006/main" w="19050">
            <a:solidFill>
              <a:srgbClr val="EAA16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941405-A652-4A96-87CF-D9E7B031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67640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FastAPI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5ACAA6-FA86-4232-97A5-A8711691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28825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rPr>
              <a:t>세션 · 게임 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00B43F-A0C4-4D0A-A5DE-7CD7E146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543050"/>
            <a:ext cx="20955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E9F0D9"/>
          </a:solidFill>
          <a:ln xmlns:a="http://schemas.openxmlformats.org/drawingml/2006/main" w="19050">
            <a:solidFill>
              <a:srgbClr val="EAA16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3E5086-D1D4-41CF-9CC4-CDF263C93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7640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PostgreSQL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446B82-652B-4EEC-BEF2-3D7EC802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28825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rPr>
              <a:t>권위 상태 · 원장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BCB517-90FD-45DA-8F37-44F1FA64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543050"/>
            <a:ext cx="19050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0E4"/>
          </a:solidFill>
          <a:ln xmlns:a="http://schemas.openxmlformats.org/drawingml/2006/main" w="19050">
            <a:solidFill>
              <a:srgbClr val="EAA16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0B655D-22D6-44AC-A4D9-C51BA667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6764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Grading Worker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42D491-A01F-4D26-A376-D971A312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28825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rPr>
              <a:t>격리 실행 조율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FFA332-1D7D-4B55-91E4-2CE87367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771650"/>
            <a:ext cx="323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94017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28A45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28A45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59F4CB-9D60-4631-9F83-BFB2C177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771650"/>
            <a:ext cx="323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94017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28A45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28A45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A44004-9C27-4F75-8921-3713B3EE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71650"/>
            <a:ext cx="323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94017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28A45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28A45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D7B37F-C4FF-4638-96E6-4365E645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71650"/>
            <a:ext cx="323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94017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28A45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28A45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99C1EE-58DB-4439-8956-17F87CE7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5124450" cy="2095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EAA16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51A405-F3CE-4232-A378-CF56E4AD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57550"/>
            <a:ext cx="10668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A45"/>
          </a:solidFill>
          <a:ln xmlns:a="http://schemas.openxmlformats.org/drawingml/2006/main" w="19050">
            <a:solidFill>
              <a:srgbClr val="F28A45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인증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667820-AFC7-4109-A8C7-509BCCF4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28A45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F28A45"/>
                </a:solidFill>
                <a:latin typeface="Noto Sans KR"/>
                <a:ea typeface="Noto Sans KR"/>
                <a:cs typeface="Noto Sans KR"/>
              </a:rPr>
              <a:t>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0C2FB5-8440-433F-9D77-67287786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10000"/>
            <a:ext cx="426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HttpOnly 세션 쿠키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17257-EAC5-41CC-8EA7-E6894C3F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291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0985E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80985E"/>
                </a:solidFill>
                <a:latin typeface="Noto Sans KR"/>
                <a:ea typeface="Noto Sans KR"/>
                <a:cs typeface="Noto Sans KR"/>
              </a:rPr>
              <a:t>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3E7CF3-3C4B-49C4-A623-F4B8F18D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10050"/>
            <a:ext cx="426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상태 변경 요청은 CSRF 토큰 검증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AB21E0-7529-4E5A-9347-71270768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28A45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F28A45"/>
                </a:solidFill>
                <a:latin typeface="Noto Sans KR"/>
                <a:ea typeface="Noto Sans KR"/>
                <a:cs typeface="Noto Sans KR"/>
              </a:rPr>
              <a:t>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0A591C-8C90-4E26-A22B-0B71D309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10100"/>
            <a:ext cx="426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401이면 인증 화면으로 복귀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6AF9D6-E938-4DCC-9596-3AB04013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28950"/>
            <a:ext cx="5124450" cy="2095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EAA16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4DFF3C-F45E-476A-B15C-280E26748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257550"/>
            <a:ext cx="15430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0985E"/>
          </a:solidFill>
          <a:ln xmlns:a="http://schemas.openxmlformats.org/drawingml/2006/main" w="19050">
            <a:solidFill>
              <a:srgbClr val="80985E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프로필 연동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74A662F-524B-41C9-AA73-7B99FAFE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290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28A45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F28A45"/>
                </a:solidFill>
                <a:latin typeface="Noto Sans KR"/>
                <a:ea typeface="Noto Sans KR"/>
                <a:cs typeface="Noto Sans KR"/>
              </a:rPr>
              <a:t>●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999529-0445-4D2E-88E0-011CA625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810000"/>
            <a:ext cx="426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학생관리시스템 경로를 백엔드가 프록시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74772BF-2318-4AD2-A563-A8A3D03C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2291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0985E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80985E"/>
                </a:solidFill>
                <a:latin typeface="Noto Sans KR"/>
                <a:ea typeface="Noto Sans KR"/>
                <a:cs typeface="Noto Sans KR"/>
              </a:rPr>
              <a:t>●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90E1A9E-7E11-4859-87BE-9D464F93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210050"/>
            <a:ext cx="426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연동 성공: 사용자 이미지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EE19F41-7107-45D1-BDCE-42682823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6291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28A45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F28A45"/>
                </a:solidFill>
                <a:latin typeface="Noto Sans KR"/>
                <a:ea typeface="Noto Sans KR"/>
                <a:cs typeface="Noto Sans KR"/>
              </a:rPr>
              <a:t>●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391F02B-B112-44FC-B4E5-C1398405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610100"/>
            <a:ext cx="426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미연동: 포근이 이미지 + 상태 문구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1633DC3-BDA3-47AF-B6FE-3190E0BC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429250"/>
            <a:ext cx="853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B684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9B6846"/>
                </a:solidFill>
                <a:latin typeface="Noto Sans KR"/>
                <a:ea typeface="Noto Sans KR"/>
                <a:cs typeface="Noto Sans KR"/>
              </a:rPr>
              <a:t>Docker Compose로 로컬 통합 실행 · 운영에서는 HTTPS와 동일 호스트 구성</a:t>
            </a:r>
          </a:p>
        </p:txBody>
      </p:sp>
    </p:spTree>
    <p:extLst>
      <p:ext uri="{BB962C8B-B14F-4D97-AF65-F5344CB8AC3E}">
        <p14:creationId xmlns:p14="http://schemas.microsoft.com/office/powerpoint/2010/main" val="137241076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9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9e7dbcb89146b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905500"/>
            <a:ext cx="12192000" cy="95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8DDF12-0B52-400F-BCE1-EAA6A543A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28A45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F28A45"/>
                </a:solidFill>
                <a:latin typeface="Noto Sans KR"/>
                <a:ea typeface="Noto Sans KR"/>
                <a:cs typeface="Noto Sans KR"/>
              </a:rPr>
              <a:t>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0A7932-9713-4B60-ACB9-9158E207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575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3B281E"/>
                </a:solidFill>
                <a:latin typeface="Noto Sans KR"/>
                <a:ea typeface="Noto Sans KR"/>
                <a:cs typeface="Noto Sans KR"/>
              </a:rPr>
              <a:t>결론: 학습 경험과 데이터 신뢰성을 함께 설계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674A70-BADC-4E4B-BD7F-082B3326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1915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E584C"/>
                </a:solidFill>
                <a:latin typeface="Noto Sans KR"/>
                <a:ea typeface="Noto Sans KR"/>
                <a:cs typeface="Noto Sans KR"/>
              </a:rPr>
              <a:t>사용자에게는 즐거운 루프를, 팀에게는 확장 가능한 경계를 남겼습니다.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AAF864-2D7A-4493-B72A-1A21D1E0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619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9B684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9B6846"/>
                </a:solidFill>
                <a:latin typeface="Noto Sans KR"/>
                <a:ea typeface="Noto Sans KR"/>
                <a:cs typeface="Noto Sans KR"/>
              </a:rPr>
              <a:t>고양이와 함께 배우는 즐거운 하루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971793-463C-44DB-86CF-E99E0C275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1049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28A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B3F133-BDBB-4993-A8B6-BA57E207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2190750" cy="1619250"/>
          </a:xfrm>
          <a:prstGeom xmlns:a="http://schemas.openxmlformats.org/drawingml/2006/main" prst="roundRect">
            <a:avLst>
              <a:gd name="adj" fmla="val 16471"/>
            </a:avLst>
          </a:prstGeom>
          <a:solidFill xmlns:a="http://schemas.openxmlformats.org/drawingml/2006/main">
            <a:srgbClr val="FFF0E4"/>
          </a:solidFill>
          <a:ln xmlns:a="http://schemas.openxmlformats.org/drawingml/2006/main" w="19050">
            <a:solidFill>
              <a:srgbClr val="F28A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99AE88-0A06-4097-85C4-D7795C37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77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28A45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F28A45"/>
                </a:solidFill>
                <a:latin typeface="Noto Sans KR"/>
                <a:ea typeface="Noto Sans KR"/>
                <a:cs typeface="Noto Sans KR"/>
              </a:rPr>
              <a:t>학습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38B0F2-B65A-41FC-8B90-A824545E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955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E584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E584C"/>
                </a:solidFill>
                <a:latin typeface="Noto Sans KR"/>
                <a:ea typeface="Noto Sans KR"/>
                <a:cs typeface="Noto Sans KR"/>
              </a:rPr>
              <a:t>추천·코드·객관식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CF7384-6AAD-4458-86C5-AC0E7A1D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143125"/>
            <a:ext cx="38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28A45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28A45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57C1F1-B38B-464B-B21E-620F75B32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600200"/>
            <a:ext cx="2190750" cy="1619250"/>
          </a:xfrm>
          <a:prstGeom xmlns:a="http://schemas.openxmlformats.org/drawingml/2006/main" prst="roundRect">
            <a:avLst>
              <a:gd name="adj" fmla="val 16471"/>
            </a:avLst>
          </a:prstGeom>
          <a:solidFill xmlns:a="http://schemas.openxmlformats.org/drawingml/2006/main">
            <a:srgbClr val="E9F0D9"/>
          </a:solidFill>
          <a:ln xmlns:a="http://schemas.openxmlformats.org/drawingml/2006/main" w="19050">
            <a:solidFill>
              <a:srgbClr val="8098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F56D82-3E18-4F5C-B93D-B015A9FE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05000"/>
            <a:ext cx="177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80985E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80985E"/>
                </a:solidFill>
                <a:latin typeface="Noto Sans KR"/>
                <a:ea typeface="Noto Sans KR"/>
                <a:cs typeface="Noto Sans KR"/>
              </a:rPr>
              <a:t>보상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AA4A13-EC96-41FF-BF3D-2C41A03C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955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E584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E584C"/>
                </a:solidFill>
                <a:latin typeface="Noto Sans KR"/>
                <a:ea typeface="Noto Sans KR"/>
                <a:cs typeface="Noto Sans KR"/>
              </a:rPr>
              <a:t>퀘스트·출석·코인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52B96F-974F-41BE-A3DA-05B96C46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143125"/>
            <a:ext cx="38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28A45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28A45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BAED9D-0FF2-408F-ADFE-1EE06EB2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600200"/>
            <a:ext cx="2190750" cy="1619250"/>
          </a:xfrm>
          <a:prstGeom xmlns:a="http://schemas.openxmlformats.org/drawingml/2006/main" prst="roundRect">
            <a:avLst>
              <a:gd name="adj" fmla="val 16471"/>
            </a:avLst>
          </a:prstGeom>
          <a:solidFill xmlns:a="http://schemas.openxmlformats.org/drawingml/2006/main">
            <a:srgbClr val="FFF0E4"/>
          </a:solidFill>
          <a:ln xmlns:a="http://schemas.openxmlformats.org/drawingml/2006/main" w="19050">
            <a:solidFill>
              <a:srgbClr val="F28A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18186F-6EC7-48D1-9D72-B8496D6C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05000"/>
            <a:ext cx="177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28A45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F28A45"/>
                </a:solidFill>
                <a:latin typeface="Noto Sans KR"/>
                <a:ea typeface="Noto Sans KR"/>
                <a:cs typeface="Noto Sans KR"/>
              </a:rPr>
              <a:t>성장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B3683A-5EF6-441B-A357-FFDCDB2E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955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E584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E584C"/>
                </a:solidFill>
                <a:latin typeface="Noto Sans KR"/>
                <a:ea typeface="Noto Sans KR"/>
                <a:cs typeface="Noto Sans KR"/>
              </a:rPr>
              <a:t>수집·상점·하우징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9B421A-2F4C-4778-9040-67E8A122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43125"/>
            <a:ext cx="38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28A45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28A45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038C1B-D043-4510-9006-78351D88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00200"/>
            <a:ext cx="2190750" cy="1619250"/>
          </a:xfrm>
          <a:prstGeom xmlns:a="http://schemas.openxmlformats.org/drawingml/2006/main" prst="roundRect">
            <a:avLst>
              <a:gd name="adj" fmla="val 16471"/>
            </a:avLst>
          </a:prstGeom>
          <a:solidFill xmlns:a="http://schemas.openxmlformats.org/drawingml/2006/main">
            <a:srgbClr val="E9F0D9"/>
          </a:solidFill>
          <a:ln xmlns:a="http://schemas.openxmlformats.org/drawingml/2006/main" w="19050">
            <a:solidFill>
              <a:srgbClr val="8098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53763B-5DF2-4B82-A99B-5EF17968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05000"/>
            <a:ext cx="177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80985E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80985E"/>
                </a:solidFill>
                <a:latin typeface="Noto Sans KR"/>
                <a:ea typeface="Noto Sans KR"/>
                <a:cs typeface="Noto Sans KR"/>
              </a:rPr>
              <a:t>교감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B6D310-2841-4EF7-8186-64E29C19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4955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E584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E584C"/>
                </a:solidFill>
                <a:latin typeface="Noto Sans KR"/>
                <a:ea typeface="Noto Sans KR"/>
                <a:cs typeface="Noto Sans KR"/>
              </a:rPr>
              <a:t>대화·고양이별 기억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620747-B6A6-4934-963B-15E1F000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76650"/>
            <a:ext cx="9944100" cy="140970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EAA16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C2C4B4-1BDD-49C2-843F-8BA889AE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943350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0985E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80985E"/>
                </a:solidFill>
                <a:latin typeface="Noto Sans KR"/>
                <a:ea typeface="Noto Sans KR"/>
                <a:cs typeface="Noto Sans KR"/>
              </a:rPr>
              <a:t>프런트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7464F4-12E2-4EC5-B002-19AF38065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434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584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E584C"/>
                </a:solidFill>
                <a:latin typeface="Noto Sans KR"/>
                <a:ea typeface="Noto Sans KR"/>
                <a:cs typeface="Noto Sans KR"/>
              </a:rPr>
              <a:t>GameClient 경계 + stateVersion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A867BC-868E-4304-B54E-D83C9179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943350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28A45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28A45"/>
                </a:solidFill>
                <a:latin typeface="Noto Sans KR"/>
                <a:ea typeface="Noto Sans KR"/>
                <a:cs typeface="Noto Sans KR"/>
              </a:rPr>
              <a:t>백엔드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AAA5AE-FB9A-44BE-912B-F71F59FC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3434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584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E584C"/>
                </a:solidFill>
                <a:latin typeface="Noto Sans KR"/>
                <a:ea typeface="Noto Sans KR"/>
                <a:cs typeface="Noto Sans KR"/>
              </a:rPr>
              <a:t>UUID DTO + 원자적 트랜잭션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107E8D-4BDD-4289-BC37-89628D1E8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943350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0985E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80985E"/>
                </a:solidFill>
                <a:latin typeface="Noto Sans KR"/>
                <a:ea typeface="Noto Sans KR"/>
                <a:cs typeface="Noto Sans KR"/>
              </a:rPr>
              <a:t>운영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14A60B-E31A-4FCE-9432-C9DBA6EA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3434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584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E584C"/>
                </a:solidFill>
                <a:latin typeface="Noto Sans KR"/>
                <a:ea typeface="Noto Sans KR"/>
                <a:cs typeface="Noto Sans KR"/>
              </a:rPr>
              <a:t>세션·격리 채점 + 관측 가능성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5737E8-05BA-4243-8F36-53650D66D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353050"/>
            <a:ext cx="76962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B6846"/>
          </a:solidFill>
          <a:ln xmlns:a="http://schemas.openxmlformats.org/drawingml/2006/main" w="19050">
            <a:solidFill>
              <a:srgbClr val="9B6846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DEMO  홈 → 학습 → 정답 제출 → 보상 → 배치 → 고양이 대화</a:t>
            </a:r>
          </a:p>
        </p:txBody>
      </p:sp>
    </p:spTree>
    <p:extLst>
      <p:ext uri="{BB962C8B-B14F-4D97-AF65-F5344CB8AC3E}">
        <p14:creationId xmlns:p14="http://schemas.microsoft.com/office/powerpoint/2010/main" val="5216825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2026-09-13T12:23:17.9600000Z</dcterms:created>
  <dcterms:modified xsi:type="dcterms:W3CDTF">2026-09-13T12:23:17.9600000Z</dcterms:modified>
</coreProperties>
</file>